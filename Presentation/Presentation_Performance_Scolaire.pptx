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75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5316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Je vais vous présenter mon projet Power BI de performance scolaire, réalisé individuellement à partir de trois sources : élèves, enseignants et cours. L'objectif : donner à la direction un outil décisionnel fiable sur les résultats académiques, l'absentéisme et la charge d'enseignement.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part de trois fichiers : students.csv, teachers.csv et courses.csv, avec pour mission de construire un rapport décisionnel pour la direction. En activant le profilage des colonnes dans Power Query, quatre problèmes sont ressortis : des valeurs manquantes entre 2 et 6%, 3 identifiants élèves dupliqués représentant 7 lignes sur 124, des dates et l'année scolaire importées en texte au lieu d'un vrai type, et cinq écritures différentes pour le genre qu'il fallait ramener à deux valeurs.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nettoyage : genre ramené à M/F, dates converties, valeurs manquantes traitées par médiane ou par Inconnu, et les 3 doublons supprimés, avec quatre colonnes calculées créées. Petit point de méthode important : la différence entre distinct et unique, illustrée par l'exemple John, Mary, John, David, John — total 5, distinct 3, unique 2 seulement. Sur ma table students, cela donne 124 lignes, 120 distinctes et 117 uniques, l'écart de 3 correspondant exactement aux identifiants dupliqués. Enfin, côté modélisation, j'ai mis en place les relations many-to-one entre les trois tables et une table calendrier DimDate en DAX pour toutes les analyses temporelles.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rapport final tient en trois pages. La Vue Élèves suit 120 élèves pour une moyenne de 11.08 et 44 élèves à risque, avec un décrochage net de la moyenne au-delà de 20 absences. La Vue Enseignants couvre 20 enseignants, avec un écart marqué entre les meilleures évaluations en Physique-Chimie et Mathématiques et les plus faibles en Anglais et Français. La Vue Cours porte sur 500 cours, un taux de réalisation de 80.9%, une réussite qui progresse de 52.3% à 57.4% entre les deux semestres, et des échecs concentrés sur Chimie, Algèbre et Dessin Technique.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axes d'action ressortent. Sur le plan académique : tutorat ciblé pour Chimie, Algèbre et Dessin Technique dès le premier semestre. Sur le corps enseignant : redistribuer les heures et accompagner les départements de langues pour réduire l'écart d'évaluation. Sur les élèves à risque : mettre en place une alerte automatique dès la 5ème absence, avant que la moyenne ne décroche sous 10/20.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un modèle de données fiable construit à partir de trois fichiers bruts, et un rapport en trois pages directement exploitable par la direction, avec des recommandations concrètes sur le tutorat, la charge des enseignants et le suivi de l'absentéisme. Je suis disponible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3"/>
        </a:solidFill>
        <a:effectLst/>
      </p:bgPr>
    </p:bg>
    <p:spTree>
      <p:nvGrpSpPr>
        <p:cNvPr id="1" name=""/>
        <p:cNvGrpSpPr/>
        <p:nvPr/>
      </p:nvGrpSpPr>
      <p:grpSpPr>
        <a:xfrm>
          <a:off x="0" y="0"/>
          <a:ext cx="0" cy="0"/>
          <a:chOff x="0" y="0"/>
          <a:chExt cx="0" cy="0"/>
        </a:xfrm>
      </p:grpSpPr>
      <p:sp>
        <p:nvSpPr>
          <p:cNvPr id="2" name="Shape 0"/>
          <p:cNvSpPr/>
          <p:nvPr/>
        </p:nvSpPr>
        <p:spPr>
          <a:xfrm>
            <a:off x="8778240" y="-1463040"/>
            <a:ext cx="4114800" cy="4114800"/>
          </a:xfrm>
          <a:prstGeom prst="ellipse">
            <a:avLst/>
          </a:prstGeom>
          <a:solidFill>
            <a:srgbClr val="3E7CB1">
              <a:alpha val="22000"/>
            </a:srgbClr>
          </a:solidFill>
          <a:ln/>
        </p:spPr>
        <p:txBody>
          <a:bodyPr/>
          <a:lstStyle/>
          <a:p>
            <a:endParaRPr lang="fr-FR"/>
          </a:p>
        </p:txBody>
      </p:sp>
      <p:sp>
        <p:nvSpPr>
          <p:cNvPr id="3" name="Shape 1"/>
          <p:cNvSpPr/>
          <p:nvPr/>
        </p:nvSpPr>
        <p:spPr>
          <a:xfrm>
            <a:off x="10332720" y="3291840"/>
            <a:ext cx="2926080" cy="2926080"/>
          </a:xfrm>
          <a:prstGeom prst="ellipse">
            <a:avLst/>
          </a:prstGeom>
          <a:solidFill>
            <a:srgbClr val="E8743B">
              <a:alpha val="25000"/>
            </a:srgbClr>
          </a:solidFill>
          <a:ln/>
        </p:spPr>
        <p:txBody>
          <a:bodyPr/>
          <a:lstStyle/>
          <a:p>
            <a:endParaRPr lang="fr-FR"/>
          </a:p>
        </p:txBody>
      </p:sp>
      <p:sp>
        <p:nvSpPr>
          <p:cNvPr id="4" name="Shape 2"/>
          <p:cNvSpPr/>
          <p:nvPr/>
        </p:nvSpPr>
        <p:spPr>
          <a:xfrm>
            <a:off x="640080" y="640080"/>
            <a:ext cx="640080" cy="640080"/>
          </a:xfrm>
          <a:prstGeom prst="ellipse">
            <a:avLst/>
          </a:prstGeom>
          <a:solidFill>
            <a:srgbClr val="3E7CB1"/>
          </a:solidFill>
          <a:ln/>
        </p:spPr>
        <p:txBody>
          <a:bodyPr/>
          <a:lstStyle/>
          <a:p>
            <a:endParaRPr lang="fr-FR"/>
          </a:p>
        </p:txBody>
      </p:sp>
      <p:pic>
        <p:nvPicPr>
          <p:cNvPr id="5" name="Image 0" descr="preencoded.png"/>
          <p:cNvPicPr>
            <a:picLocks noChangeAspect="1"/>
          </p:cNvPicPr>
          <p:nvPr/>
        </p:nvPicPr>
        <p:blipFill>
          <a:blip r:embed="rId3"/>
          <a:stretch>
            <a:fillRect/>
          </a:stretch>
        </p:blipFill>
        <p:spPr>
          <a:xfrm>
            <a:off x="806501" y="806501"/>
            <a:ext cx="307238" cy="307238"/>
          </a:xfrm>
          <a:prstGeom prst="rect">
            <a:avLst/>
          </a:prstGeom>
        </p:spPr>
      </p:pic>
      <p:sp>
        <p:nvSpPr>
          <p:cNvPr id="6" name="Text 3"/>
          <p:cNvSpPr/>
          <p:nvPr/>
        </p:nvSpPr>
        <p:spPr>
          <a:xfrm>
            <a:off x="548640" y="1965960"/>
            <a:ext cx="7315200" cy="320040"/>
          </a:xfrm>
          <a:prstGeom prst="rect">
            <a:avLst/>
          </a:prstGeom>
          <a:noFill/>
          <a:ln/>
        </p:spPr>
        <p:txBody>
          <a:bodyPr wrap="square" rtlCol="0" anchor="ctr"/>
          <a:lstStyle/>
          <a:p>
            <a:pPr marL="0" indent="0">
              <a:buNone/>
            </a:pPr>
            <a:r>
              <a:rPr lang="en-US" sz="1300" b="1" kern="0" spc="300" dirty="0">
                <a:solidFill>
                  <a:srgbClr val="9FC1E0"/>
                </a:solidFill>
                <a:latin typeface="Calibri" pitchFamily="34" charset="0"/>
                <a:ea typeface="Calibri" pitchFamily="34" charset="-122"/>
                <a:cs typeface="Calibri" pitchFamily="34" charset="-120"/>
              </a:rPr>
              <a:t>PROJET DATA — POWER BI</a:t>
            </a:r>
            <a:endParaRPr lang="en-US" sz="1300" dirty="0"/>
          </a:p>
        </p:txBody>
      </p:sp>
      <p:sp>
        <p:nvSpPr>
          <p:cNvPr id="7" name="Text 4"/>
          <p:cNvSpPr/>
          <p:nvPr/>
        </p:nvSpPr>
        <p:spPr>
          <a:xfrm>
            <a:off x="548640" y="2286000"/>
            <a:ext cx="9875520" cy="118872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Rapport Décisionnel de Performance Scolaire</a:t>
            </a:r>
            <a:endParaRPr lang="en-US" sz="4000" dirty="0"/>
          </a:p>
        </p:txBody>
      </p:sp>
      <p:sp>
        <p:nvSpPr>
          <p:cNvPr id="8" name="Text 5"/>
          <p:cNvSpPr/>
          <p:nvPr/>
        </p:nvSpPr>
        <p:spPr>
          <a:xfrm>
            <a:off x="548640" y="3337560"/>
            <a:ext cx="9144000" cy="457200"/>
          </a:xfrm>
          <a:prstGeom prst="rect">
            <a:avLst/>
          </a:prstGeom>
          <a:noFill/>
          <a:ln/>
        </p:spPr>
        <p:txBody>
          <a:bodyPr wrap="square" rtlCol="0" anchor="ctr"/>
          <a:lstStyle/>
          <a:p>
            <a:pPr marL="0" indent="0">
              <a:buNone/>
            </a:pPr>
            <a:r>
              <a:rPr lang="en-US" sz="1600" i="1" dirty="0">
                <a:solidFill>
                  <a:srgbClr val="CFE0F0"/>
                </a:solidFill>
                <a:latin typeface="Calibri" pitchFamily="34" charset="0"/>
                <a:ea typeface="Calibri" pitchFamily="34" charset="-122"/>
                <a:cs typeface="Calibri" pitchFamily="34" charset="-120"/>
              </a:rPr>
              <a:t>Élèves · Enseignants · Cours — de la donnée brute à la décision</a:t>
            </a:r>
            <a:endParaRPr lang="en-US" sz="1600" dirty="0"/>
          </a:p>
        </p:txBody>
      </p:sp>
      <p:sp>
        <p:nvSpPr>
          <p:cNvPr id="9" name="Shape 6"/>
          <p:cNvSpPr/>
          <p:nvPr/>
        </p:nvSpPr>
        <p:spPr>
          <a:xfrm>
            <a:off x="566928" y="3977640"/>
            <a:ext cx="1280160" cy="0"/>
          </a:xfrm>
          <a:prstGeom prst="line">
            <a:avLst/>
          </a:prstGeom>
          <a:noFill/>
          <a:ln w="38100">
            <a:solidFill>
              <a:srgbClr val="E8743B"/>
            </a:solidFill>
            <a:prstDash val="solid"/>
          </a:ln>
        </p:spPr>
        <p:txBody>
          <a:bodyPr/>
          <a:lstStyle/>
          <a:p>
            <a:endParaRPr lang="fr-FR"/>
          </a:p>
        </p:txBody>
      </p:sp>
      <p:sp>
        <p:nvSpPr>
          <p:cNvPr id="10" name="Text 7"/>
          <p:cNvSpPr/>
          <p:nvPr/>
        </p:nvSpPr>
        <p:spPr>
          <a:xfrm>
            <a:off x="548640" y="4160520"/>
            <a:ext cx="5486400" cy="640080"/>
          </a:xfrm>
          <a:prstGeom prst="rect">
            <a:avLst/>
          </a:prstGeom>
          <a:noFill/>
          <a:ln/>
        </p:spPr>
        <p:txBody>
          <a:bodyPr wrap="square" rtlCol="0" anchor="ctr"/>
          <a:lstStyle/>
          <a:p>
            <a:pPr marL="0" indent="0">
              <a:buNone/>
            </a:pPr>
            <a:r>
              <a:rPr lang="en-US" sz="1300" b="1" dirty="0">
                <a:solidFill>
                  <a:srgbClr val="E7EEF6"/>
                </a:solidFill>
                <a:latin typeface="Calibri" pitchFamily="34" charset="0"/>
                <a:ea typeface="Calibri" pitchFamily="34" charset="-122"/>
                <a:cs typeface="Calibri" pitchFamily="34" charset="-120"/>
              </a:rPr>
              <a:t>Ayoub</a:t>
            </a:r>
            <a:endParaRPr lang="en-US" sz="1300" dirty="0"/>
          </a:p>
          <a:p>
            <a:pPr marL="0" indent="0">
              <a:buNone/>
            </a:pPr>
            <a:r>
              <a:rPr lang="en-US" sz="1300" dirty="0">
                <a:solidFill>
                  <a:srgbClr val="E7EEF6"/>
                </a:solidFill>
                <a:latin typeface="Calibri" pitchFamily="34" charset="0"/>
                <a:ea typeface="Calibri" pitchFamily="34" charset="-122"/>
                <a:cs typeface="Calibri" pitchFamily="34" charset="-120"/>
              </a:rPr>
              <a:t>Analyse de Données — Établissement Scolaire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1" name="Text 26"/>
          <p:cNvSpPr/>
          <p:nvPr/>
        </p:nvSpPr>
        <p:spPr>
          <a:xfrm>
            <a:off x="12489709" y="5408088"/>
            <a:ext cx="36576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
        <p:nvSpPr>
          <p:cNvPr id="2" name="Text 0"/>
          <p:cNvSpPr/>
          <p:nvPr/>
        </p:nvSpPr>
        <p:spPr>
          <a:xfrm>
            <a:off x="502920" y="274320"/>
            <a:ext cx="8229600" cy="274320"/>
          </a:xfrm>
          <a:prstGeom prst="rect">
            <a:avLst/>
          </a:prstGeom>
          <a:noFill/>
          <a:ln/>
        </p:spPr>
        <p:txBody>
          <a:bodyPr wrap="square" rtlCol="0" anchor="ctr"/>
          <a:lstStyle/>
          <a:p>
            <a:pPr marL="0" indent="0">
              <a:buNone/>
            </a:pPr>
            <a:r>
              <a:rPr lang="en-US" sz="1200" b="1" kern="0" spc="200" dirty="0">
                <a:solidFill>
                  <a:srgbClr val="3E7CB1"/>
                </a:solidFill>
                <a:latin typeface="Calibri" pitchFamily="34" charset="0"/>
                <a:ea typeface="Calibri" pitchFamily="34" charset="-122"/>
                <a:cs typeface="Calibri" pitchFamily="34" charset="-120"/>
              </a:rPr>
              <a:t>CONTEXTE &amp; EXPLORATION</a:t>
            </a:r>
            <a:endParaRPr lang="en-US" sz="1200" dirty="0"/>
          </a:p>
        </p:txBody>
      </p:sp>
      <p:sp>
        <p:nvSpPr>
          <p:cNvPr id="3" name="Text 1"/>
          <p:cNvSpPr/>
          <p:nvPr/>
        </p:nvSpPr>
        <p:spPr>
          <a:xfrm>
            <a:off x="502920" y="521208"/>
            <a:ext cx="10058400" cy="594360"/>
          </a:xfrm>
          <a:prstGeom prst="rect">
            <a:avLst/>
          </a:prstGeom>
          <a:noFill/>
          <a:ln/>
        </p:spPr>
        <p:txBody>
          <a:bodyPr wrap="square" rtlCol="0" anchor="ctr"/>
          <a:lstStyle/>
          <a:p>
            <a:pPr marL="0" indent="0">
              <a:buNone/>
            </a:pPr>
            <a:r>
              <a:rPr lang="en-US" sz="2600" b="1" dirty="0">
                <a:solidFill>
                  <a:srgbClr val="1B3A63"/>
                </a:solidFill>
                <a:latin typeface="Cambria" pitchFamily="34" charset="0"/>
                <a:ea typeface="Cambria" pitchFamily="34" charset="-122"/>
                <a:cs typeface="Cambria" pitchFamily="34" charset="-120"/>
              </a:rPr>
              <a:t>Trois sources de données, quatre problèmes détectés</a:t>
            </a:r>
            <a:endParaRPr lang="en-US" sz="2600" dirty="0"/>
          </a:p>
        </p:txBody>
      </p:sp>
      <p:sp>
        <p:nvSpPr>
          <p:cNvPr id="4" name="Shape 2"/>
          <p:cNvSpPr/>
          <p:nvPr/>
        </p:nvSpPr>
        <p:spPr>
          <a:xfrm>
            <a:off x="502920" y="1234440"/>
            <a:ext cx="1691640" cy="1417320"/>
          </a:xfrm>
          <a:prstGeom prst="roundRect">
            <a:avLst>
              <a:gd name="adj" fmla="val 4516"/>
            </a:avLst>
          </a:prstGeom>
          <a:solidFill>
            <a:srgbClr val="F6F8FB"/>
          </a:solidFill>
          <a:ln/>
          <a:effectLst>
            <a:outerShdw blurRad="101600" dist="38100" dir="2700000" algn="bl" rotWithShape="0">
              <a:srgbClr val="1B3A63">
                <a:alpha val="12000"/>
              </a:srgbClr>
            </a:outerShdw>
          </a:effectLst>
        </p:spPr>
        <p:txBody>
          <a:bodyPr/>
          <a:lstStyle/>
          <a:p>
            <a:endParaRPr lang="fr-FR"/>
          </a:p>
        </p:txBody>
      </p:sp>
      <p:sp>
        <p:nvSpPr>
          <p:cNvPr id="5" name="Shape 3"/>
          <p:cNvSpPr/>
          <p:nvPr/>
        </p:nvSpPr>
        <p:spPr>
          <a:xfrm>
            <a:off x="667512" y="1399032"/>
            <a:ext cx="411480" cy="411480"/>
          </a:xfrm>
          <a:prstGeom prst="ellipse">
            <a:avLst/>
          </a:prstGeom>
          <a:solidFill>
            <a:srgbClr val="1B3A63"/>
          </a:solidFill>
          <a:ln/>
        </p:spPr>
        <p:txBody>
          <a:bodyPr/>
          <a:lstStyle/>
          <a:p>
            <a:endParaRPr lang="fr-FR"/>
          </a:p>
        </p:txBody>
      </p:sp>
      <p:pic>
        <p:nvPicPr>
          <p:cNvPr id="6" name="Image 0" descr="preencoded.png"/>
          <p:cNvPicPr>
            <a:picLocks noChangeAspect="1"/>
          </p:cNvPicPr>
          <p:nvPr/>
        </p:nvPicPr>
        <p:blipFill>
          <a:blip r:embed="rId3"/>
          <a:stretch>
            <a:fillRect/>
          </a:stretch>
        </p:blipFill>
        <p:spPr>
          <a:xfrm>
            <a:off x="774497" y="1506017"/>
            <a:ext cx="197510" cy="197510"/>
          </a:xfrm>
          <a:prstGeom prst="rect">
            <a:avLst/>
          </a:prstGeom>
        </p:spPr>
      </p:pic>
      <p:sp>
        <p:nvSpPr>
          <p:cNvPr id="7" name="Text 4"/>
          <p:cNvSpPr/>
          <p:nvPr/>
        </p:nvSpPr>
        <p:spPr>
          <a:xfrm>
            <a:off x="612648" y="1892808"/>
            <a:ext cx="1472184" cy="274320"/>
          </a:xfrm>
          <a:prstGeom prst="rect">
            <a:avLst/>
          </a:prstGeom>
          <a:noFill/>
          <a:ln/>
        </p:spPr>
        <p:txBody>
          <a:bodyPr wrap="square" rtlCol="0" anchor="ctr"/>
          <a:lstStyle/>
          <a:p>
            <a:pPr marL="0" indent="0">
              <a:buNone/>
            </a:pPr>
            <a:r>
              <a:rPr lang="en-US" sz="1150" b="1" dirty="0">
                <a:solidFill>
                  <a:srgbClr val="1B3A63"/>
                </a:solidFill>
                <a:latin typeface="Calibri" pitchFamily="34" charset="0"/>
                <a:ea typeface="Calibri" pitchFamily="34" charset="-122"/>
                <a:cs typeface="Calibri" pitchFamily="34" charset="-120"/>
              </a:rPr>
              <a:t>students.csv</a:t>
            </a:r>
            <a:endParaRPr lang="en-US" sz="1150" dirty="0"/>
          </a:p>
        </p:txBody>
      </p:sp>
      <p:sp>
        <p:nvSpPr>
          <p:cNvPr id="8" name="Text 5"/>
          <p:cNvSpPr/>
          <p:nvPr/>
        </p:nvSpPr>
        <p:spPr>
          <a:xfrm>
            <a:off x="612648" y="2148840"/>
            <a:ext cx="1472184" cy="457200"/>
          </a:xfrm>
          <a:prstGeom prst="rect">
            <a:avLst/>
          </a:prstGeom>
          <a:noFill/>
          <a:ln/>
        </p:spPr>
        <p:txBody>
          <a:bodyPr wrap="square" rtlCol="0" anchor="ctr"/>
          <a:lstStyle/>
          <a:p>
            <a:pPr marL="0" indent="0">
              <a:lnSpc>
                <a:spcPct val="105000"/>
              </a:lnSpc>
              <a:buNone/>
            </a:pPr>
            <a:r>
              <a:rPr lang="en-US" sz="900" dirty="0">
                <a:solidFill>
                  <a:srgbClr val="1F2A37"/>
                </a:solidFill>
                <a:latin typeface="Calibri" pitchFamily="34" charset="0"/>
                <a:ea typeface="Calibri" pitchFamily="34" charset="-122"/>
                <a:cs typeface="Calibri" pitchFamily="34" charset="-120"/>
              </a:rPr>
              <a:t>Profil, notes, absences, statut.</a:t>
            </a:r>
            <a:endParaRPr lang="en-US" sz="900" dirty="0"/>
          </a:p>
        </p:txBody>
      </p:sp>
      <p:sp>
        <p:nvSpPr>
          <p:cNvPr id="9" name="Shape 6"/>
          <p:cNvSpPr/>
          <p:nvPr/>
        </p:nvSpPr>
        <p:spPr>
          <a:xfrm>
            <a:off x="2331720" y="1234440"/>
            <a:ext cx="1691640" cy="1417320"/>
          </a:xfrm>
          <a:prstGeom prst="roundRect">
            <a:avLst>
              <a:gd name="adj" fmla="val 4516"/>
            </a:avLst>
          </a:prstGeom>
          <a:solidFill>
            <a:srgbClr val="F6F8FB"/>
          </a:solidFill>
          <a:ln/>
          <a:effectLst>
            <a:outerShdw blurRad="101600" dist="38100" dir="2700000" algn="bl" rotWithShape="0">
              <a:srgbClr val="1B3A63">
                <a:alpha val="12000"/>
              </a:srgbClr>
            </a:outerShdw>
          </a:effectLst>
        </p:spPr>
        <p:txBody>
          <a:bodyPr/>
          <a:lstStyle/>
          <a:p>
            <a:endParaRPr lang="fr-FR"/>
          </a:p>
        </p:txBody>
      </p:sp>
      <p:sp>
        <p:nvSpPr>
          <p:cNvPr id="10" name="Shape 7"/>
          <p:cNvSpPr/>
          <p:nvPr/>
        </p:nvSpPr>
        <p:spPr>
          <a:xfrm>
            <a:off x="2496312" y="1399032"/>
            <a:ext cx="411480" cy="411480"/>
          </a:xfrm>
          <a:prstGeom prst="ellipse">
            <a:avLst/>
          </a:prstGeom>
          <a:solidFill>
            <a:srgbClr val="3E7CB1"/>
          </a:solidFill>
          <a:ln/>
        </p:spPr>
        <p:txBody>
          <a:bodyPr/>
          <a:lstStyle/>
          <a:p>
            <a:endParaRPr lang="fr-FR"/>
          </a:p>
        </p:txBody>
      </p:sp>
      <p:pic>
        <p:nvPicPr>
          <p:cNvPr id="11" name="Image 1" descr="preencoded.png"/>
          <p:cNvPicPr>
            <a:picLocks noChangeAspect="1"/>
          </p:cNvPicPr>
          <p:nvPr/>
        </p:nvPicPr>
        <p:blipFill>
          <a:blip r:embed="rId4"/>
          <a:stretch>
            <a:fillRect/>
          </a:stretch>
        </p:blipFill>
        <p:spPr>
          <a:xfrm>
            <a:off x="2603297" y="1506017"/>
            <a:ext cx="197510" cy="197510"/>
          </a:xfrm>
          <a:prstGeom prst="rect">
            <a:avLst/>
          </a:prstGeom>
        </p:spPr>
      </p:pic>
      <p:sp>
        <p:nvSpPr>
          <p:cNvPr id="12" name="Text 8"/>
          <p:cNvSpPr/>
          <p:nvPr/>
        </p:nvSpPr>
        <p:spPr>
          <a:xfrm>
            <a:off x="2441448" y="1892808"/>
            <a:ext cx="1472184" cy="274320"/>
          </a:xfrm>
          <a:prstGeom prst="rect">
            <a:avLst/>
          </a:prstGeom>
          <a:noFill/>
          <a:ln/>
        </p:spPr>
        <p:txBody>
          <a:bodyPr wrap="square" rtlCol="0" anchor="ctr"/>
          <a:lstStyle/>
          <a:p>
            <a:pPr marL="0" indent="0">
              <a:buNone/>
            </a:pPr>
            <a:r>
              <a:rPr lang="en-US" sz="1150" b="1" dirty="0">
                <a:solidFill>
                  <a:srgbClr val="1B3A63"/>
                </a:solidFill>
                <a:latin typeface="Calibri" pitchFamily="34" charset="0"/>
                <a:ea typeface="Calibri" pitchFamily="34" charset="-122"/>
                <a:cs typeface="Calibri" pitchFamily="34" charset="-120"/>
              </a:rPr>
              <a:t>teachers.csv</a:t>
            </a:r>
            <a:endParaRPr lang="en-US" sz="1150" dirty="0"/>
          </a:p>
        </p:txBody>
      </p:sp>
      <p:sp>
        <p:nvSpPr>
          <p:cNvPr id="13" name="Text 9"/>
          <p:cNvSpPr/>
          <p:nvPr/>
        </p:nvSpPr>
        <p:spPr>
          <a:xfrm>
            <a:off x="2441448" y="2148840"/>
            <a:ext cx="1472184" cy="457200"/>
          </a:xfrm>
          <a:prstGeom prst="rect">
            <a:avLst/>
          </a:prstGeom>
          <a:noFill/>
          <a:ln/>
        </p:spPr>
        <p:txBody>
          <a:bodyPr wrap="square" rtlCol="0" anchor="ctr"/>
          <a:lstStyle/>
          <a:p>
            <a:pPr marL="0" indent="0">
              <a:lnSpc>
                <a:spcPct val="105000"/>
              </a:lnSpc>
              <a:buNone/>
            </a:pPr>
            <a:r>
              <a:rPr lang="en-US" sz="900" dirty="0">
                <a:solidFill>
                  <a:srgbClr val="1F2A37"/>
                </a:solidFill>
                <a:latin typeface="Calibri" pitchFamily="34" charset="0"/>
                <a:ea typeface="Calibri" pitchFamily="34" charset="-122"/>
                <a:cs typeface="Calibri" pitchFamily="34" charset="-120"/>
              </a:rPr>
              <a:t>Ancienneté, charge, évaluation.</a:t>
            </a:r>
            <a:endParaRPr lang="en-US" sz="900" dirty="0"/>
          </a:p>
        </p:txBody>
      </p:sp>
      <p:sp>
        <p:nvSpPr>
          <p:cNvPr id="14" name="Shape 10"/>
          <p:cNvSpPr/>
          <p:nvPr/>
        </p:nvSpPr>
        <p:spPr>
          <a:xfrm>
            <a:off x="4160520" y="1234440"/>
            <a:ext cx="1691640" cy="1417320"/>
          </a:xfrm>
          <a:prstGeom prst="roundRect">
            <a:avLst>
              <a:gd name="adj" fmla="val 4516"/>
            </a:avLst>
          </a:prstGeom>
          <a:solidFill>
            <a:srgbClr val="F6F8FB"/>
          </a:solidFill>
          <a:ln/>
          <a:effectLst>
            <a:outerShdw blurRad="101600" dist="38100" dir="2700000" algn="bl" rotWithShape="0">
              <a:srgbClr val="1B3A63">
                <a:alpha val="12000"/>
              </a:srgbClr>
            </a:outerShdw>
          </a:effectLst>
        </p:spPr>
        <p:txBody>
          <a:bodyPr/>
          <a:lstStyle/>
          <a:p>
            <a:endParaRPr lang="fr-FR"/>
          </a:p>
        </p:txBody>
      </p:sp>
      <p:sp>
        <p:nvSpPr>
          <p:cNvPr id="15" name="Shape 11"/>
          <p:cNvSpPr/>
          <p:nvPr/>
        </p:nvSpPr>
        <p:spPr>
          <a:xfrm>
            <a:off x="4325112" y="1399032"/>
            <a:ext cx="411480" cy="411480"/>
          </a:xfrm>
          <a:prstGeom prst="ellipse">
            <a:avLst/>
          </a:prstGeom>
          <a:solidFill>
            <a:srgbClr val="E8743B"/>
          </a:solidFill>
          <a:ln/>
        </p:spPr>
        <p:txBody>
          <a:bodyPr/>
          <a:lstStyle/>
          <a:p>
            <a:endParaRPr lang="fr-FR"/>
          </a:p>
        </p:txBody>
      </p:sp>
      <p:pic>
        <p:nvPicPr>
          <p:cNvPr id="16" name="Image 2" descr="preencoded.png"/>
          <p:cNvPicPr>
            <a:picLocks noChangeAspect="1"/>
          </p:cNvPicPr>
          <p:nvPr/>
        </p:nvPicPr>
        <p:blipFill>
          <a:blip r:embed="rId5"/>
          <a:stretch>
            <a:fillRect/>
          </a:stretch>
        </p:blipFill>
        <p:spPr>
          <a:xfrm>
            <a:off x="4432097" y="1506017"/>
            <a:ext cx="197510" cy="197510"/>
          </a:xfrm>
          <a:prstGeom prst="rect">
            <a:avLst/>
          </a:prstGeom>
        </p:spPr>
      </p:pic>
      <p:sp>
        <p:nvSpPr>
          <p:cNvPr id="17" name="Text 12"/>
          <p:cNvSpPr/>
          <p:nvPr/>
        </p:nvSpPr>
        <p:spPr>
          <a:xfrm>
            <a:off x="4270248" y="1892808"/>
            <a:ext cx="1472184" cy="274320"/>
          </a:xfrm>
          <a:prstGeom prst="rect">
            <a:avLst/>
          </a:prstGeom>
          <a:noFill/>
          <a:ln/>
        </p:spPr>
        <p:txBody>
          <a:bodyPr wrap="square" rtlCol="0" anchor="ctr"/>
          <a:lstStyle/>
          <a:p>
            <a:pPr marL="0" indent="0">
              <a:buNone/>
            </a:pPr>
            <a:r>
              <a:rPr lang="en-US" sz="1150" b="1" dirty="0">
                <a:solidFill>
                  <a:srgbClr val="1B3A63"/>
                </a:solidFill>
                <a:latin typeface="Calibri" pitchFamily="34" charset="0"/>
                <a:ea typeface="Calibri" pitchFamily="34" charset="-122"/>
                <a:cs typeface="Calibri" pitchFamily="34" charset="-120"/>
              </a:rPr>
              <a:t>courses.csv</a:t>
            </a:r>
            <a:endParaRPr lang="en-US" sz="1150" dirty="0"/>
          </a:p>
        </p:txBody>
      </p:sp>
      <p:sp>
        <p:nvSpPr>
          <p:cNvPr id="18" name="Text 13"/>
          <p:cNvSpPr/>
          <p:nvPr/>
        </p:nvSpPr>
        <p:spPr>
          <a:xfrm>
            <a:off x="4270248" y="2148840"/>
            <a:ext cx="1472184" cy="457200"/>
          </a:xfrm>
          <a:prstGeom prst="rect">
            <a:avLst/>
          </a:prstGeom>
          <a:noFill/>
          <a:ln/>
        </p:spPr>
        <p:txBody>
          <a:bodyPr wrap="square" rtlCol="0" anchor="ctr"/>
          <a:lstStyle/>
          <a:p>
            <a:pPr marL="0" indent="0">
              <a:lnSpc>
                <a:spcPct val="105000"/>
              </a:lnSpc>
              <a:buNone/>
            </a:pPr>
            <a:r>
              <a:rPr lang="en-US" sz="900" dirty="0">
                <a:solidFill>
                  <a:srgbClr val="1F2A37"/>
                </a:solidFill>
                <a:latin typeface="Calibri" pitchFamily="34" charset="0"/>
                <a:ea typeface="Calibri" pitchFamily="34" charset="-122"/>
                <a:cs typeface="Calibri" pitchFamily="34" charset="-120"/>
              </a:rPr>
              <a:t>Heures, notes, réussite.</a:t>
            </a:r>
            <a:endParaRPr lang="en-US" sz="900" dirty="0"/>
          </a:p>
        </p:txBody>
      </p:sp>
      <p:sp>
        <p:nvSpPr>
          <p:cNvPr id="19" name="Text 14"/>
          <p:cNvSpPr/>
          <p:nvPr/>
        </p:nvSpPr>
        <p:spPr>
          <a:xfrm>
            <a:off x="502920" y="2834640"/>
            <a:ext cx="5486400" cy="274320"/>
          </a:xfrm>
          <a:prstGeom prst="rect">
            <a:avLst/>
          </a:prstGeom>
          <a:noFill/>
          <a:ln/>
        </p:spPr>
        <p:txBody>
          <a:bodyPr wrap="square" rtlCol="0" anchor="ctr"/>
          <a:lstStyle/>
          <a:p>
            <a:pPr marL="0" indent="0">
              <a:buNone/>
            </a:pPr>
            <a:r>
              <a:rPr lang="en-US" sz="1250" b="1" dirty="0">
                <a:solidFill>
                  <a:srgbClr val="1B3A63"/>
                </a:solidFill>
                <a:latin typeface="Calibri" pitchFamily="34" charset="0"/>
                <a:ea typeface="Calibri" pitchFamily="34" charset="-122"/>
                <a:cs typeface="Calibri" pitchFamily="34" charset="-120"/>
              </a:rPr>
              <a:t>Mission</a:t>
            </a:r>
            <a:endParaRPr lang="en-US" sz="1250" dirty="0"/>
          </a:p>
        </p:txBody>
      </p:sp>
      <p:sp>
        <p:nvSpPr>
          <p:cNvPr id="20" name="Text 15"/>
          <p:cNvSpPr/>
          <p:nvPr/>
        </p:nvSpPr>
        <p:spPr>
          <a:xfrm>
            <a:off x="502920" y="3127248"/>
            <a:ext cx="5257800" cy="822960"/>
          </a:xfrm>
          <a:prstGeom prst="rect">
            <a:avLst/>
          </a:prstGeom>
          <a:noFill/>
          <a:ln/>
        </p:spPr>
        <p:txBody>
          <a:bodyPr wrap="square" rtlCol="0" anchor="ctr"/>
          <a:lstStyle/>
          <a:p>
            <a:pPr marL="0" indent="0">
              <a:lnSpc>
                <a:spcPct val="120000"/>
              </a:lnSpc>
              <a:buNone/>
            </a:pPr>
            <a:r>
              <a:rPr lang="en-US" sz="1050" dirty="0">
                <a:solidFill>
                  <a:srgbClr val="1F2A37"/>
                </a:solidFill>
                <a:latin typeface="Calibri" pitchFamily="34" charset="0"/>
                <a:ea typeface="Calibri" pitchFamily="34" charset="-122"/>
                <a:cs typeface="Calibri" pitchFamily="34" charset="-120"/>
              </a:rPr>
              <a:t>Construire un rapport Power BI pour piloter la performance académique, l'absentéisme, la charge des enseignants et l'efficacité des cours.</a:t>
            </a:r>
            <a:endParaRPr lang="en-US" sz="1050" dirty="0"/>
          </a:p>
        </p:txBody>
      </p:sp>
      <p:sp>
        <p:nvSpPr>
          <p:cNvPr id="21" name="Shape 16"/>
          <p:cNvSpPr/>
          <p:nvPr/>
        </p:nvSpPr>
        <p:spPr>
          <a:xfrm>
            <a:off x="5989320" y="1234440"/>
            <a:ext cx="5394960" cy="3246120"/>
          </a:xfrm>
          <a:prstGeom prst="roundRect">
            <a:avLst>
              <a:gd name="adj" fmla="val 2254"/>
            </a:avLst>
          </a:prstGeom>
          <a:solidFill>
            <a:srgbClr val="1B3A63"/>
          </a:solidFill>
          <a:ln/>
          <a:effectLst>
            <a:outerShdw blurRad="101600" dist="38100" dir="2700000" algn="bl" rotWithShape="0">
              <a:srgbClr val="1B3A63">
                <a:alpha val="12000"/>
              </a:srgbClr>
            </a:outerShdw>
          </a:effectLst>
        </p:spPr>
        <p:txBody>
          <a:bodyPr/>
          <a:lstStyle/>
          <a:p>
            <a:endParaRPr lang="fr-FR"/>
          </a:p>
        </p:txBody>
      </p:sp>
      <p:sp>
        <p:nvSpPr>
          <p:cNvPr id="22" name="Text 17"/>
          <p:cNvSpPr/>
          <p:nvPr/>
        </p:nvSpPr>
        <p:spPr>
          <a:xfrm>
            <a:off x="6263640" y="1371600"/>
            <a:ext cx="484632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Profilage des colonnes — 4 constats</a:t>
            </a:r>
            <a:endParaRPr lang="en-US" sz="1250" dirty="0"/>
          </a:p>
        </p:txBody>
      </p:sp>
      <p:sp>
        <p:nvSpPr>
          <p:cNvPr id="23" name="Text 18"/>
          <p:cNvSpPr/>
          <p:nvPr/>
        </p:nvSpPr>
        <p:spPr>
          <a:xfrm>
            <a:off x="6263640" y="1783080"/>
            <a:ext cx="1828800" cy="548640"/>
          </a:xfrm>
          <a:prstGeom prst="rect">
            <a:avLst/>
          </a:prstGeom>
          <a:noFill/>
          <a:ln/>
        </p:spPr>
        <p:txBody>
          <a:bodyPr wrap="square" rtlCol="0" anchor="ctr"/>
          <a:lstStyle/>
          <a:p>
            <a:pPr marL="0" indent="0">
              <a:buNone/>
            </a:pPr>
            <a:r>
              <a:rPr lang="en-US" sz="1100" b="1" dirty="0">
                <a:solidFill>
                  <a:srgbClr val="E8743B"/>
                </a:solidFill>
                <a:latin typeface="Calibri" pitchFamily="34" charset="0"/>
                <a:ea typeface="Calibri" pitchFamily="34" charset="-122"/>
                <a:cs typeface="Calibri" pitchFamily="34" charset="-120"/>
              </a:rPr>
              <a:t>Valeurs manquantes</a:t>
            </a:r>
            <a:endParaRPr lang="en-US" sz="1100" dirty="0"/>
          </a:p>
        </p:txBody>
      </p:sp>
      <p:sp>
        <p:nvSpPr>
          <p:cNvPr id="24" name="Text 19"/>
          <p:cNvSpPr/>
          <p:nvPr/>
        </p:nvSpPr>
        <p:spPr>
          <a:xfrm>
            <a:off x="8183880" y="1783080"/>
            <a:ext cx="3063240" cy="594360"/>
          </a:xfrm>
          <a:prstGeom prst="rect">
            <a:avLst/>
          </a:prstGeom>
          <a:noFill/>
          <a:ln/>
        </p:spPr>
        <p:txBody>
          <a:bodyPr wrap="square" rtlCol="0" anchor="ctr"/>
          <a:lstStyle/>
          <a:p>
            <a:pPr marL="0" indent="0">
              <a:lnSpc>
                <a:spcPct val="110000"/>
              </a:lnSpc>
              <a:buNone/>
            </a:pPr>
            <a:r>
              <a:rPr lang="en-US" sz="980" dirty="0">
                <a:solidFill>
                  <a:srgbClr val="DCE7F2"/>
                </a:solidFill>
                <a:latin typeface="Calibri" pitchFamily="34" charset="0"/>
                <a:ea typeface="Calibri" pitchFamily="34" charset="-122"/>
                <a:cs typeface="Calibri" pitchFamily="34" charset="-120"/>
              </a:rPr>
              <a:t>2% à 6% selon la colonne (notes, heures, évaluation)</a:t>
            </a:r>
            <a:endParaRPr lang="en-US" sz="980" dirty="0"/>
          </a:p>
        </p:txBody>
      </p:sp>
      <p:sp>
        <p:nvSpPr>
          <p:cNvPr id="25" name="Text 20"/>
          <p:cNvSpPr/>
          <p:nvPr/>
        </p:nvSpPr>
        <p:spPr>
          <a:xfrm>
            <a:off x="6263640" y="2441448"/>
            <a:ext cx="1828800" cy="548640"/>
          </a:xfrm>
          <a:prstGeom prst="rect">
            <a:avLst/>
          </a:prstGeom>
          <a:noFill/>
          <a:ln/>
        </p:spPr>
        <p:txBody>
          <a:bodyPr wrap="square" rtlCol="0" anchor="ctr"/>
          <a:lstStyle/>
          <a:p>
            <a:pPr marL="0" indent="0">
              <a:buNone/>
            </a:pPr>
            <a:r>
              <a:rPr lang="en-US" sz="1100" b="1" dirty="0">
                <a:solidFill>
                  <a:srgbClr val="E8743B"/>
                </a:solidFill>
                <a:latin typeface="Calibri" pitchFamily="34" charset="0"/>
                <a:ea typeface="Calibri" pitchFamily="34" charset="-122"/>
                <a:cs typeface="Calibri" pitchFamily="34" charset="-120"/>
              </a:rPr>
              <a:t>Doublons</a:t>
            </a:r>
            <a:endParaRPr lang="en-US" sz="1100" dirty="0"/>
          </a:p>
        </p:txBody>
      </p:sp>
      <p:sp>
        <p:nvSpPr>
          <p:cNvPr id="26" name="Text 21"/>
          <p:cNvSpPr/>
          <p:nvPr/>
        </p:nvSpPr>
        <p:spPr>
          <a:xfrm>
            <a:off x="8183880" y="2441448"/>
            <a:ext cx="3063240" cy="594360"/>
          </a:xfrm>
          <a:prstGeom prst="rect">
            <a:avLst/>
          </a:prstGeom>
          <a:noFill/>
          <a:ln/>
        </p:spPr>
        <p:txBody>
          <a:bodyPr wrap="square" rtlCol="0" anchor="ctr"/>
          <a:lstStyle/>
          <a:p>
            <a:pPr marL="0" indent="0">
              <a:lnSpc>
                <a:spcPct val="110000"/>
              </a:lnSpc>
              <a:buNone/>
            </a:pPr>
            <a:r>
              <a:rPr lang="en-US" sz="980" dirty="0">
                <a:solidFill>
                  <a:srgbClr val="DCE7F2"/>
                </a:solidFill>
                <a:latin typeface="Calibri" pitchFamily="34" charset="0"/>
                <a:ea typeface="Calibri" pitchFamily="34" charset="-122"/>
                <a:cs typeface="Calibri" pitchFamily="34" charset="-120"/>
              </a:rPr>
              <a:t>3 identifiants élèves dupliqués → 7 lignes sur 124</a:t>
            </a:r>
            <a:endParaRPr lang="en-US" sz="980" dirty="0"/>
          </a:p>
        </p:txBody>
      </p:sp>
      <p:sp>
        <p:nvSpPr>
          <p:cNvPr id="27" name="Text 22"/>
          <p:cNvSpPr/>
          <p:nvPr/>
        </p:nvSpPr>
        <p:spPr>
          <a:xfrm>
            <a:off x="6263640" y="3099816"/>
            <a:ext cx="1828800" cy="548640"/>
          </a:xfrm>
          <a:prstGeom prst="rect">
            <a:avLst/>
          </a:prstGeom>
          <a:noFill/>
          <a:ln/>
        </p:spPr>
        <p:txBody>
          <a:bodyPr wrap="square" rtlCol="0" anchor="ctr"/>
          <a:lstStyle/>
          <a:p>
            <a:pPr marL="0" indent="0">
              <a:buNone/>
            </a:pPr>
            <a:r>
              <a:rPr lang="en-US" sz="1100" b="1" dirty="0">
                <a:solidFill>
                  <a:srgbClr val="E8743B"/>
                </a:solidFill>
                <a:latin typeface="Calibri" pitchFamily="34" charset="0"/>
                <a:ea typeface="Calibri" pitchFamily="34" charset="-122"/>
                <a:cs typeface="Calibri" pitchFamily="34" charset="-120"/>
              </a:rPr>
              <a:t>Types incorrects</a:t>
            </a:r>
            <a:endParaRPr lang="en-US" sz="1100" dirty="0"/>
          </a:p>
        </p:txBody>
      </p:sp>
      <p:sp>
        <p:nvSpPr>
          <p:cNvPr id="28" name="Text 23"/>
          <p:cNvSpPr/>
          <p:nvPr/>
        </p:nvSpPr>
        <p:spPr>
          <a:xfrm>
            <a:off x="8183880" y="3099816"/>
            <a:ext cx="3063240" cy="594360"/>
          </a:xfrm>
          <a:prstGeom prst="rect">
            <a:avLst/>
          </a:prstGeom>
          <a:noFill/>
          <a:ln/>
        </p:spPr>
        <p:txBody>
          <a:bodyPr wrap="square" rtlCol="0" anchor="ctr"/>
          <a:lstStyle/>
          <a:p>
            <a:pPr marL="0" indent="0">
              <a:lnSpc>
                <a:spcPct val="110000"/>
              </a:lnSpc>
              <a:buNone/>
            </a:pPr>
            <a:r>
              <a:rPr lang="en-US" sz="980" dirty="0">
                <a:solidFill>
                  <a:srgbClr val="DCE7F2"/>
                </a:solidFill>
                <a:latin typeface="Calibri" pitchFamily="34" charset="0"/>
                <a:ea typeface="Calibri" pitchFamily="34" charset="-122"/>
                <a:cs typeface="Calibri" pitchFamily="34" charset="-120"/>
              </a:rPr>
              <a:t>Dates (birth_date, hire_date) et année importées en texte</a:t>
            </a:r>
            <a:endParaRPr lang="en-US" sz="980" dirty="0"/>
          </a:p>
        </p:txBody>
      </p:sp>
      <p:sp>
        <p:nvSpPr>
          <p:cNvPr id="29" name="Text 24"/>
          <p:cNvSpPr/>
          <p:nvPr/>
        </p:nvSpPr>
        <p:spPr>
          <a:xfrm>
            <a:off x="6263640" y="3758184"/>
            <a:ext cx="1828800" cy="548640"/>
          </a:xfrm>
          <a:prstGeom prst="rect">
            <a:avLst/>
          </a:prstGeom>
          <a:noFill/>
          <a:ln/>
        </p:spPr>
        <p:txBody>
          <a:bodyPr wrap="square" rtlCol="0" anchor="ctr"/>
          <a:lstStyle/>
          <a:p>
            <a:pPr marL="0" indent="0">
              <a:buNone/>
            </a:pPr>
            <a:r>
              <a:rPr lang="en-US" sz="1100" b="1" dirty="0">
                <a:solidFill>
                  <a:srgbClr val="E8743B"/>
                </a:solidFill>
                <a:latin typeface="Calibri" pitchFamily="34" charset="0"/>
                <a:ea typeface="Calibri" pitchFamily="34" charset="-122"/>
                <a:cs typeface="Calibri" pitchFamily="34" charset="-120"/>
              </a:rPr>
              <a:t>Incohérences</a:t>
            </a:r>
            <a:endParaRPr lang="en-US" sz="1100" dirty="0"/>
          </a:p>
        </p:txBody>
      </p:sp>
      <p:sp>
        <p:nvSpPr>
          <p:cNvPr id="30" name="Text 25"/>
          <p:cNvSpPr/>
          <p:nvPr/>
        </p:nvSpPr>
        <p:spPr>
          <a:xfrm>
            <a:off x="8183880" y="3758184"/>
            <a:ext cx="3063240" cy="594360"/>
          </a:xfrm>
          <a:prstGeom prst="rect">
            <a:avLst/>
          </a:prstGeom>
          <a:noFill/>
          <a:ln/>
        </p:spPr>
        <p:txBody>
          <a:bodyPr wrap="square" rtlCol="0" anchor="ctr"/>
          <a:lstStyle/>
          <a:p>
            <a:pPr marL="0" indent="0">
              <a:lnSpc>
                <a:spcPct val="110000"/>
              </a:lnSpc>
              <a:buNone/>
            </a:pPr>
            <a:r>
              <a:rPr lang="en-US" sz="980" dirty="0">
                <a:solidFill>
                  <a:srgbClr val="DCE7F2"/>
                </a:solidFill>
                <a:latin typeface="Calibri" pitchFamily="34" charset="0"/>
                <a:ea typeface="Calibri" pitchFamily="34" charset="-122"/>
                <a:cs typeface="Calibri" pitchFamily="34" charset="-120"/>
              </a:rPr>
              <a:t>5 variantes pour le genre : M, F, f, Femme, male</a:t>
            </a:r>
            <a:endParaRPr lang="en-US" sz="9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rtlCol="0" anchor="ctr"/>
          <a:lstStyle/>
          <a:p>
            <a:pPr marL="0" indent="0">
              <a:buNone/>
            </a:pPr>
            <a:r>
              <a:rPr lang="en-US" sz="1200" b="1" kern="0" spc="200" dirty="0">
                <a:solidFill>
                  <a:srgbClr val="3E7CB1"/>
                </a:solidFill>
                <a:latin typeface="Calibri" pitchFamily="34" charset="0"/>
                <a:ea typeface="Calibri" pitchFamily="34" charset="-122"/>
                <a:cs typeface="Calibri" pitchFamily="34" charset="-120"/>
              </a:rPr>
              <a:t>NETTOYAGE &amp; MODÉLISATION</a:t>
            </a:r>
            <a:endParaRPr lang="en-US" sz="1200" dirty="0"/>
          </a:p>
        </p:txBody>
      </p:sp>
      <p:sp>
        <p:nvSpPr>
          <p:cNvPr id="3" name="Text 1"/>
          <p:cNvSpPr/>
          <p:nvPr/>
        </p:nvSpPr>
        <p:spPr>
          <a:xfrm>
            <a:off x="502920" y="521208"/>
            <a:ext cx="10058400" cy="594360"/>
          </a:xfrm>
          <a:prstGeom prst="rect">
            <a:avLst/>
          </a:prstGeom>
          <a:noFill/>
          <a:ln/>
        </p:spPr>
        <p:txBody>
          <a:bodyPr wrap="square" rtlCol="0" anchor="ctr"/>
          <a:lstStyle/>
          <a:p>
            <a:pPr marL="0" indent="0">
              <a:buNone/>
            </a:pPr>
            <a:r>
              <a:rPr lang="en-US" sz="2600" b="1" dirty="0">
                <a:solidFill>
                  <a:srgbClr val="1B3A63"/>
                </a:solidFill>
                <a:latin typeface="Cambria" pitchFamily="34" charset="0"/>
                <a:ea typeface="Cambria" pitchFamily="34" charset="-122"/>
                <a:cs typeface="Cambria" pitchFamily="34" charset="-120"/>
              </a:rPr>
              <a:t>De la donnée brute à un modèle fiable</a:t>
            </a:r>
            <a:endParaRPr lang="en-US" sz="2600" dirty="0"/>
          </a:p>
        </p:txBody>
      </p:sp>
      <p:sp>
        <p:nvSpPr>
          <p:cNvPr id="4" name="Shape 2"/>
          <p:cNvSpPr/>
          <p:nvPr/>
        </p:nvSpPr>
        <p:spPr>
          <a:xfrm>
            <a:off x="502920" y="1234440"/>
            <a:ext cx="3429000" cy="3246120"/>
          </a:xfrm>
          <a:prstGeom prst="roundRect">
            <a:avLst>
              <a:gd name="adj" fmla="val 2254"/>
            </a:avLst>
          </a:prstGeom>
          <a:solidFill>
            <a:srgbClr val="F6F8FB"/>
          </a:solidFill>
          <a:ln/>
          <a:effectLst>
            <a:outerShdw blurRad="101600" dist="38100" dir="2700000" algn="bl" rotWithShape="0">
              <a:srgbClr val="1B3A63">
                <a:alpha val="12000"/>
              </a:srgbClr>
            </a:outerShdw>
          </a:effectLst>
        </p:spPr>
        <p:txBody>
          <a:bodyPr/>
          <a:lstStyle/>
          <a:p>
            <a:endParaRPr lang="fr-FR"/>
          </a:p>
        </p:txBody>
      </p:sp>
      <p:sp>
        <p:nvSpPr>
          <p:cNvPr id="5" name="Shape 3"/>
          <p:cNvSpPr/>
          <p:nvPr/>
        </p:nvSpPr>
        <p:spPr>
          <a:xfrm>
            <a:off x="713232" y="1417320"/>
            <a:ext cx="384048" cy="384048"/>
          </a:xfrm>
          <a:prstGeom prst="ellipse">
            <a:avLst/>
          </a:prstGeom>
          <a:solidFill>
            <a:srgbClr val="E8743B"/>
          </a:solidFill>
          <a:ln/>
        </p:spPr>
        <p:txBody>
          <a:bodyPr/>
          <a:lstStyle/>
          <a:p>
            <a:endParaRPr lang="fr-FR"/>
          </a:p>
        </p:txBody>
      </p:sp>
      <p:pic>
        <p:nvPicPr>
          <p:cNvPr id="6" name="Image 0" descr="preencoded.png"/>
          <p:cNvPicPr>
            <a:picLocks noChangeAspect="1"/>
          </p:cNvPicPr>
          <p:nvPr/>
        </p:nvPicPr>
        <p:blipFill>
          <a:blip r:embed="rId3"/>
          <a:stretch>
            <a:fillRect/>
          </a:stretch>
        </p:blipFill>
        <p:spPr>
          <a:xfrm>
            <a:off x="813084" y="1517172"/>
            <a:ext cx="184343" cy="184343"/>
          </a:xfrm>
          <a:prstGeom prst="rect">
            <a:avLst/>
          </a:prstGeom>
        </p:spPr>
      </p:pic>
      <p:sp>
        <p:nvSpPr>
          <p:cNvPr id="7" name="Text 4"/>
          <p:cNvSpPr/>
          <p:nvPr/>
        </p:nvSpPr>
        <p:spPr>
          <a:xfrm>
            <a:off x="1207008" y="1463040"/>
            <a:ext cx="2651760" cy="274320"/>
          </a:xfrm>
          <a:prstGeom prst="rect">
            <a:avLst/>
          </a:prstGeom>
          <a:noFill/>
          <a:ln/>
        </p:spPr>
        <p:txBody>
          <a:bodyPr wrap="square" rtlCol="0" anchor="ctr"/>
          <a:lstStyle/>
          <a:p>
            <a:pPr marL="0" indent="0">
              <a:buNone/>
            </a:pPr>
            <a:r>
              <a:rPr lang="en-US" sz="1250" b="1" dirty="0">
                <a:solidFill>
                  <a:srgbClr val="1B3A63"/>
                </a:solidFill>
                <a:latin typeface="Calibri" pitchFamily="34" charset="0"/>
                <a:ea typeface="Calibri" pitchFamily="34" charset="-122"/>
                <a:cs typeface="Calibri" pitchFamily="34" charset="-120"/>
              </a:rPr>
              <a:t>Nettoyage</a:t>
            </a:r>
            <a:endParaRPr lang="en-US" sz="1250" dirty="0"/>
          </a:p>
        </p:txBody>
      </p:sp>
      <p:sp>
        <p:nvSpPr>
          <p:cNvPr id="8" name="Text 5"/>
          <p:cNvSpPr/>
          <p:nvPr/>
        </p:nvSpPr>
        <p:spPr>
          <a:xfrm>
            <a:off x="731520" y="1920240"/>
            <a:ext cx="2971800" cy="2468880"/>
          </a:xfrm>
          <a:prstGeom prst="rect">
            <a:avLst/>
          </a:prstGeom>
          <a:noFill/>
          <a:ln/>
        </p:spPr>
        <p:txBody>
          <a:bodyPr wrap="square" rtlCol="0" anchor="ctr"/>
          <a:lstStyle/>
          <a:p>
            <a:pPr marL="342900" indent="-342900">
              <a:lnSpc>
                <a:spcPct val="115000"/>
              </a:lnSpc>
              <a:spcAft>
                <a:spcPts val="600"/>
              </a:spcAft>
              <a:buSzPct val="100000"/>
              <a:buChar char="–"/>
            </a:pPr>
            <a:r>
              <a:rPr lang="en-US" sz="980" dirty="0">
                <a:solidFill>
                  <a:srgbClr val="1F2A37"/>
                </a:solidFill>
                <a:latin typeface="Calibri" pitchFamily="34" charset="0"/>
                <a:ea typeface="Calibri" pitchFamily="34" charset="-122"/>
                <a:cs typeface="Calibri" pitchFamily="34" charset="-120"/>
              </a:rPr>
              <a:t>Genre → M / F uniquement</a:t>
            </a:r>
            <a:endParaRPr lang="en-US" sz="980" dirty="0"/>
          </a:p>
          <a:p>
            <a:pPr marL="342900" indent="-342900">
              <a:lnSpc>
                <a:spcPct val="115000"/>
              </a:lnSpc>
              <a:spcAft>
                <a:spcPts val="600"/>
              </a:spcAft>
              <a:buSzPct val="100000"/>
              <a:buChar char="–"/>
            </a:pPr>
            <a:r>
              <a:rPr lang="en-US" sz="980" dirty="0">
                <a:solidFill>
                  <a:srgbClr val="1F2A37"/>
                </a:solidFill>
                <a:latin typeface="Calibri" pitchFamily="34" charset="0"/>
                <a:ea typeface="Calibri" pitchFamily="34" charset="-122"/>
                <a:cs typeface="Calibri" pitchFamily="34" charset="-120"/>
              </a:rPr>
              <a:t>Dates → format JJ/MM/AAAA</a:t>
            </a:r>
            <a:endParaRPr lang="en-US" sz="980" dirty="0"/>
          </a:p>
          <a:p>
            <a:pPr marL="342900" indent="-342900">
              <a:lnSpc>
                <a:spcPct val="115000"/>
              </a:lnSpc>
              <a:spcAft>
                <a:spcPts val="600"/>
              </a:spcAft>
              <a:buSzPct val="100000"/>
              <a:buChar char="–"/>
            </a:pPr>
            <a:r>
              <a:rPr lang="en-US" sz="980" dirty="0">
                <a:solidFill>
                  <a:srgbClr val="1F2A37"/>
                </a:solidFill>
                <a:latin typeface="Calibri" pitchFamily="34" charset="0"/>
                <a:ea typeface="Calibri" pitchFamily="34" charset="-122"/>
                <a:cs typeface="Calibri" pitchFamily="34" charset="-120"/>
              </a:rPr>
              <a:t>Manquants : médiane (notes), « Inconnu » (texte)</a:t>
            </a:r>
            <a:endParaRPr lang="en-US" sz="980" dirty="0"/>
          </a:p>
          <a:p>
            <a:pPr marL="342900" indent="-342900">
              <a:lnSpc>
                <a:spcPct val="115000"/>
              </a:lnSpc>
              <a:spcAft>
                <a:spcPts val="600"/>
              </a:spcAft>
              <a:buSzPct val="100000"/>
              <a:buChar char="–"/>
            </a:pPr>
            <a:r>
              <a:rPr lang="en-US" sz="980" dirty="0">
                <a:solidFill>
                  <a:srgbClr val="1F2A37"/>
                </a:solidFill>
                <a:latin typeface="Calibri" pitchFamily="34" charset="0"/>
                <a:ea typeface="Calibri" pitchFamily="34" charset="-122"/>
                <a:cs typeface="Calibri" pitchFamily="34" charset="-120"/>
              </a:rPr>
              <a:t>3 doublons student_id supprimés</a:t>
            </a:r>
            <a:endParaRPr lang="en-US" sz="980" dirty="0"/>
          </a:p>
          <a:p>
            <a:pPr marL="342900" indent="-342900">
              <a:lnSpc>
                <a:spcPct val="115000"/>
              </a:lnSpc>
              <a:spcAft>
                <a:spcPts val="600"/>
              </a:spcAft>
              <a:buSzPct val="100000"/>
              <a:buChar char="–"/>
            </a:pPr>
            <a:r>
              <a:rPr lang="en-US" sz="980" dirty="0">
                <a:solidFill>
                  <a:srgbClr val="1F2A37"/>
                </a:solidFill>
                <a:latin typeface="Calibri" pitchFamily="34" charset="0"/>
                <a:ea typeface="Calibri" pitchFamily="34" charset="-122"/>
                <a:cs typeface="Calibri" pitchFamily="34" charset="-120"/>
              </a:rPr>
              <a:t>Colonnes calculées : âge, ancienneté, taux réalisation, année inscription</a:t>
            </a:r>
            <a:endParaRPr lang="en-US" sz="980" dirty="0"/>
          </a:p>
        </p:txBody>
      </p:sp>
      <p:sp>
        <p:nvSpPr>
          <p:cNvPr id="9" name="Shape 6"/>
          <p:cNvSpPr/>
          <p:nvPr/>
        </p:nvSpPr>
        <p:spPr>
          <a:xfrm>
            <a:off x="4069080" y="1234440"/>
            <a:ext cx="3611880" cy="3246120"/>
          </a:xfrm>
          <a:prstGeom prst="roundRect">
            <a:avLst>
              <a:gd name="adj" fmla="val 2254"/>
            </a:avLst>
          </a:prstGeom>
          <a:solidFill>
            <a:srgbClr val="1B3A63"/>
          </a:solidFill>
          <a:ln/>
          <a:effectLst>
            <a:outerShdw blurRad="101600" dist="38100" dir="2700000" algn="bl" rotWithShape="0">
              <a:srgbClr val="1B3A63">
                <a:alpha val="12000"/>
              </a:srgbClr>
            </a:outerShdw>
          </a:effectLst>
        </p:spPr>
        <p:txBody>
          <a:bodyPr/>
          <a:lstStyle/>
          <a:p>
            <a:endParaRPr lang="fr-FR"/>
          </a:p>
        </p:txBody>
      </p:sp>
      <p:sp>
        <p:nvSpPr>
          <p:cNvPr id="10" name="Text 7"/>
          <p:cNvSpPr/>
          <p:nvPr/>
        </p:nvSpPr>
        <p:spPr>
          <a:xfrm>
            <a:off x="4297680" y="1371600"/>
            <a:ext cx="3200400" cy="2743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Distinct vs. Unique</a:t>
            </a:r>
            <a:endParaRPr lang="en-US" sz="1250" dirty="0"/>
          </a:p>
        </p:txBody>
      </p:sp>
      <p:sp>
        <p:nvSpPr>
          <p:cNvPr id="11" name="Text 8"/>
          <p:cNvSpPr/>
          <p:nvPr/>
        </p:nvSpPr>
        <p:spPr>
          <a:xfrm>
            <a:off x="4297680" y="1673352"/>
            <a:ext cx="3200400" cy="274320"/>
          </a:xfrm>
          <a:prstGeom prst="rect">
            <a:avLst/>
          </a:prstGeom>
          <a:noFill/>
          <a:ln/>
        </p:spPr>
        <p:txBody>
          <a:bodyPr wrap="square" rtlCol="0" anchor="ctr"/>
          <a:lstStyle/>
          <a:p>
            <a:pPr marL="0" indent="0">
              <a:buNone/>
            </a:pPr>
            <a:r>
              <a:rPr lang="en-US" sz="1050" i="1" dirty="0">
                <a:solidFill>
                  <a:srgbClr val="CFE0F0"/>
                </a:solidFill>
                <a:latin typeface="Calibri" pitchFamily="34" charset="0"/>
                <a:ea typeface="Calibri" pitchFamily="34" charset="-122"/>
                <a:cs typeface="Calibri" pitchFamily="34" charset="-120"/>
              </a:rPr>
              <a:t>John · Mary · John · David · John</a:t>
            </a:r>
            <a:endParaRPr lang="en-US" sz="1050" dirty="0"/>
          </a:p>
        </p:txBody>
      </p:sp>
      <p:sp>
        <p:nvSpPr>
          <p:cNvPr id="12" name="Text 9"/>
          <p:cNvSpPr/>
          <p:nvPr/>
        </p:nvSpPr>
        <p:spPr>
          <a:xfrm>
            <a:off x="4297680" y="2057400"/>
            <a:ext cx="1097280" cy="4572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124</a:t>
            </a:r>
            <a:endParaRPr lang="en-US" sz="2200" dirty="0"/>
          </a:p>
        </p:txBody>
      </p:sp>
      <p:sp>
        <p:nvSpPr>
          <p:cNvPr id="13" name="Text 10"/>
          <p:cNvSpPr/>
          <p:nvPr/>
        </p:nvSpPr>
        <p:spPr>
          <a:xfrm>
            <a:off x="4297680" y="2487168"/>
            <a:ext cx="1097280" cy="274320"/>
          </a:xfrm>
          <a:prstGeom prst="rect">
            <a:avLst/>
          </a:prstGeom>
          <a:noFill/>
          <a:ln/>
        </p:spPr>
        <p:txBody>
          <a:bodyPr wrap="square" rtlCol="0" anchor="ctr"/>
          <a:lstStyle/>
          <a:p>
            <a:pPr marL="0" indent="0" algn="ctr">
              <a:buNone/>
            </a:pPr>
            <a:r>
              <a:rPr lang="en-US" sz="900" dirty="0">
                <a:solidFill>
                  <a:srgbClr val="9FC1E0"/>
                </a:solidFill>
                <a:latin typeface="Calibri" pitchFamily="34" charset="0"/>
                <a:ea typeface="Calibri" pitchFamily="34" charset="-122"/>
                <a:cs typeface="Calibri" pitchFamily="34" charset="-120"/>
              </a:rPr>
              <a:t>Total</a:t>
            </a:r>
            <a:endParaRPr lang="en-US" sz="900" dirty="0"/>
          </a:p>
        </p:txBody>
      </p:sp>
      <p:sp>
        <p:nvSpPr>
          <p:cNvPr id="14" name="Text 11"/>
          <p:cNvSpPr/>
          <p:nvPr/>
        </p:nvSpPr>
        <p:spPr>
          <a:xfrm>
            <a:off x="5440680" y="2057400"/>
            <a:ext cx="1097280" cy="45720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120</a:t>
            </a:r>
            <a:endParaRPr lang="en-US" sz="2200" dirty="0"/>
          </a:p>
        </p:txBody>
      </p:sp>
      <p:sp>
        <p:nvSpPr>
          <p:cNvPr id="15" name="Text 12"/>
          <p:cNvSpPr/>
          <p:nvPr/>
        </p:nvSpPr>
        <p:spPr>
          <a:xfrm>
            <a:off x="5440680" y="2487168"/>
            <a:ext cx="1097280" cy="274320"/>
          </a:xfrm>
          <a:prstGeom prst="rect">
            <a:avLst/>
          </a:prstGeom>
          <a:noFill/>
          <a:ln/>
        </p:spPr>
        <p:txBody>
          <a:bodyPr wrap="square" rtlCol="0" anchor="ctr"/>
          <a:lstStyle/>
          <a:p>
            <a:pPr marL="0" indent="0" algn="ctr">
              <a:buNone/>
            </a:pPr>
            <a:r>
              <a:rPr lang="en-US" sz="900" dirty="0">
                <a:solidFill>
                  <a:srgbClr val="9FC1E0"/>
                </a:solidFill>
                <a:latin typeface="Calibri" pitchFamily="34" charset="0"/>
                <a:ea typeface="Calibri" pitchFamily="34" charset="-122"/>
                <a:cs typeface="Calibri" pitchFamily="34" charset="-120"/>
              </a:rPr>
              <a:t>Distinct</a:t>
            </a:r>
            <a:endParaRPr lang="en-US" sz="900" dirty="0"/>
          </a:p>
        </p:txBody>
      </p:sp>
      <p:sp>
        <p:nvSpPr>
          <p:cNvPr id="16" name="Text 13"/>
          <p:cNvSpPr/>
          <p:nvPr/>
        </p:nvSpPr>
        <p:spPr>
          <a:xfrm>
            <a:off x="6583680" y="2057400"/>
            <a:ext cx="1097280" cy="457200"/>
          </a:xfrm>
          <a:prstGeom prst="rect">
            <a:avLst/>
          </a:prstGeom>
          <a:noFill/>
          <a:ln/>
        </p:spPr>
        <p:txBody>
          <a:bodyPr wrap="square" rtlCol="0" anchor="ctr"/>
          <a:lstStyle/>
          <a:p>
            <a:pPr marL="0" indent="0" algn="ctr">
              <a:buNone/>
            </a:pPr>
            <a:r>
              <a:rPr lang="en-US" sz="2200" b="1" dirty="0">
                <a:solidFill>
                  <a:srgbClr val="E8743B"/>
                </a:solidFill>
                <a:latin typeface="Cambria" pitchFamily="34" charset="0"/>
                <a:ea typeface="Cambria" pitchFamily="34" charset="-122"/>
                <a:cs typeface="Cambria" pitchFamily="34" charset="-120"/>
              </a:rPr>
              <a:t>117</a:t>
            </a:r>
            <a:endParaRPr lang="en-US" sz="2200" dirty="0"/>
          </a:p>
        </p:txBody>
      </p:sp>
      <p:sp>
        <p:nvSpPr>
          <p:cNvPr id="17" name="Text 14"/>
          <p:cNvSpPr/>
          <p:nvPr/>
        </p:nvSpPr>
        <p:spPr>
          <a:xfrm>
            <a:off x="6583680" y="2487168"/>
            <a:ext cx="1097280" cy="274320"/>
          </a:xfrm>
          <a:prstGeom prst="rect">
            <a:avLst/>
          </a:prstGeom>
          <a:noFill/>
          <a:ln/>
        </p:spPr>
        <p:txBody>
          <a:bodyPr wrap="square" rtlCol="0" anchor="ctr"/>
          <a:lstStyle/>
          <a:p>
            <a:pPr marL="0" indent="0" algn="ctr">
              <a:buNone/>
            </a:pPr>
            <a:r>
              <a:rPr lang="en-US" sz="900" dirty="0">
                <a:solidFill>
                  <a:srgbClr val="9FC1E0"/>
                </a:solidFill>
                <a:latin typeface="Calibri" pitchFamily="34" charset="0"/>
                <a:ea typeface="Calibri" pitchFamily="34" charset="-122"/>
                <a:cs typeface="Calibri" pitchFamily="34" charset="-120"/>
              </a:rPr>
              <a:t>Unique</a:t>
            </a:r>
            <a:endParaRPr lang="en-US" sz="900" dirty="0"/>
          </a:p>
        </p:txBody>
      </p:sp>
      <p:sp>
        <p:nvSpPr>
          <p:cNvPr id="18" name="Shape 15"/>
          <p:cNvSpPr/>
          <p:nvPr/>
        </p:nvSpPr>
        <p:spPr>
          <a:xfrm>
            <a:off x="4297680" y="2880360"/>
            <a:ext cx="3108960" cy="0"/>
          </a:xfrm>
          <a:prstGeom prst="line">
            <a:avLst/>
          </a:prstGeom>
          <a:noFill/>
          <a:ln w="12700">
            <a:solidFill>
              <a:srgbClr val="3B5C82"/>
            </a:solidFill>
            <a:prstDash val="solid"/>
          </a:ln>
        </p:spPr>
        <p:txBody>
          <a:bodyPr/>
          <a:lstStyle/>
          <a:p>
            <a:endParaRPr lang="fr-FR"/>
          </a:p>
        </p:txBody>
      </p:sp>
      <p:sp>
        <p:nvSpPr>
          <p:cNvPr id="19" name="Text 16"/>
          <p:cNvSpPr/>
          <p:nvPr/>
        </p:nvSpPr>
        <p:spPr>
          <a:xfrm>
            <a:off x="4297680" y="3017520"/>
            <a:ext cx="3200400" cy="1371600"/>
          </a:xfrm>
          <a:prstGeom prst="rect">
            <a:avLst/>
          </a:prstGeom>
          <a:noFill/>
          <a:ln/>
        </p:spPr>
        <p:txBody>
          <a:bodyPr wrap="square" rtlCol="0" anchor="ctr"/>
          <a:lstStyle/>
          <a:p>
            <a:pPr marL="0" indent="0">
              <a:lnSpc>
                <a:spcPct val="120000"/>
              </a:lnSpc>
              <a:buNone/>
            </a:pPr>
            <a:r>
              <a:rPr lang="en-US" sz="960" dirty="0">
                <a:solidFill>
                  <a:srgbClr val="DCE7F2"/>
                </a:solidFill>
                <a:latin typeface="Calibri" pitchFamily="34" charset="0"/>
                <a:ea typeface="Calibri" pitchFamily="34" charset="-122"/>
                <a:cs typeface="Calibri" pitchFamily="34" charset="-120"/>
              </a:rPr>
              <a:t>3 identifiants se répètent (STU0011, STU0040 ×2, STU0034 ×3) → 7 lignes. 120 − 117 = 3 identifiants à problème.</a:t>
            </a:r>
            <a:endParaRPr lang="en-US" sz="960" dirty="0"/>
          </a:p>
        </p:txBody>
      </p:sp>
      <p:sp>
        <p:nvSpPr>
          <p:cNvPr id="20" name="Shape 17"/>
          <p:cNvSpPr/>
          <p:nvPr/>
        </p:nvSpPr>
        <p:spPr>
          <a:xfrm>
            <a:off x="7863840" y="1234440"/>
            <a:ext cx="3520440" cy="3246120"/>
          </a:xfrm>
          <a:prstGeom prst="roundRect">
            <a:avLst>
              <a:gd name="adj" fmla="val 2254"/>
            </a:avLst>
          </a:prstGeom>
          <a:solidFill>
            <a:srgbClr val="F6F8FB"/>
          </a:solidFill>
          <a:ln/>
          <a:effectLst>
            <a:outerShdw blurRad="101600" dist="38100" dir="2700000" algn="bl" rotWithShape="0">
              <a:srgbClr val="1B3A63">
                <a:alpha val="12000"/>
              </a:srgbClr>
            </a:outerShdw>
          </a:effectLst>
        </p:spPr>
        <p:txBody>
          <a:bodyPr/>
          <a:lstStyle/>
          <a:p>
            <a:endParaRPr lang="fr-FR"/>
          </a:p>
        </p:txBody>
      </p:sp>
      <p:sp>
        <p:nvSpPr>
          <p:cNvPr id="21" name="Shape 18"/>
          <p:cNvSpPr/>
          <p:nvPr/>
        </p:nvSpPr>
        <p:spPr>
          <a:xfrm>
            <a:off x="8074152" y="1417320"/>
            <a:ext cx="384048" cy="384048"/>
          </a:xfrm>
          <a:prstGeom prst="ellipse">
            <a:avLst/>
          </a:prstGeom>
          <a:solidFill>
            <a:srgbClr val="3E7CB1"/>
          </a:solidFill>
          <a:ln/>
        </p:spPr>
        <p:txBody>
          <a:bodyPr/>
          <a:lstStyle/>
          <a:p>
            <a:endParaRPr lang="fr-FR"/>
          </a:p>
        </p:txBody>
      </p:sp>
      <p:pic>
        <p:nvPicPr>
          <p:cNvPr id="22" name="Image 1" descr="preencoded.png"/>
          <p:cNvPicPr>
            <a:picLocks noChangeAspect="1"/>
          </p:cNvPicPr>
          <p:nvPr/>
        </p:nvPicPr>
        <p:blipFill>
          <a:blip r:embed="rId4"/>
          <a:stretch>
            <a:fillRect/>
          </a:stretch>
        </p:blipFill>
        <p:spPr>
          <a:xfrm>
            <a:off x="8174004" y="1517172"/>
            <a:ext cx="184343" cy="184343"/>
          </a:xfrm>
          <a:prstGeom prst="rect">
            <a:avLst/>
          </a:prstGeom>
        </p:spPr>
      </p:pic>
      <p:sp>
        <p:nvSpPr>
          <p:cNvPr id="23" name="Text 19"/>
          <p:cNvSpPr/>
          <p:nvPr/>
        </p:nvSpPr>
        <p:spPr>
          <a:xfrm>
            <a:off x="8549640" y="1463040"/>
            <a:ext cx="2743200" cy="274320"/>
          </a:xfrm>
          <a:prstGeom prst="rect">
            <a:avLst/>
          </a:prstGeom>
          <a:noFill/>
          <a:ln/>
        </p:spPr>
        <p:txBody>
          <a:bodyPr wrap="square" rtlCol="0" anchor="ctr"/>
          <a:lstStyle/>
          <a:p>
            <a:pPr marL="0" indent="0">
              <a:buNone/>
            </a:pPr>
            <a:r>
              <a:rPr lang="en-US" sz="1250" b="1" dirty="0">
                <a:solidFill>
                  <a:srgbClr val="1B3A63"/>
                </a:solidFill>
                <a:latin typeface="Calibri" pitchFamily="34" charset="0"/>
                <a:ea typeface="Calibri" pitchFamily="34" charset="-122"/>
                <a:cs typeface="Calibri" pitchFamily="34" charset="-120"/>
              </a:rPr>
              <a:t>Modélisation</a:t>
            </a:r>
            <a:endParaRPr lang="en-US" sz="1250" dirty="0"/>
          </a:p>
        </p:txBody>
      </p:sp>
      <p:sp>
        <p:nvSpPr>
          <p:cNvPr id="24" name="Text 20"/>
          <p:cNvSpPr/>
          <p:nvPr/>
        </p:nvSpPr>
        <p:spPr>
          <a:xfrm>
            <a:off x="8092440" y="1920240"/>
            <a:ext cx="3063240" cy="2377440"/>
          </a:xfrm>
          <a:prstGeom prst="rect">
            <a:avLst/>
          </a:prstGeom>
          <a:noFill/>
          <a:ln/>
        </p:spPr>
        <p:txBody>
          <a:bodyPr wrap="square" rtlCol="0" anchor="ctr"/>
          <a:lstStyle/>
          <a:p>
            <a:pPr marL="342900" indent="-342900">
              <a:lnSpc>
                <a:spcPct val="115000"/>
              </a:lnSpc>
              <a:spcAft>
                <a:spcPts val="600"/>
              </a:spcAft>
              <a:buSzPct val="100000"/>
              <a:buChar char="–"/>
            </a:pPr>
            <a:r>
              <a:rPr lang="en-US" sz="980" dirty="0">
                <a:solidFill>
                  <a:srgbClr val="1F2A37"/>
                </a:solidFill>
                <a:latin typeface="Calibri" pitchFamily="34" charset="0"/>
                <a:ea typeface="Calibri" pitchFamily="34" charset="-122"/>
                <a:cs typeface="Calibri" pitchFamily="34" charset="-120"/>
              </a:rPr>
              <a:t>Relations Many-to-One : students ↔ teachers, courses ↔ students/teachers</a:t>
            </a:r>
            <a:endParaRPr lang="en-US" sz="980" dirty="0"/>
          </a:p>
          <a:p>
            <a:pPr marL="342900" indent="-342900">
              <a:lnSpc>
                <a:spcPct val="115000"/>
              </a:lnSpc>
              <a:spcAft>
                <a:spcPts val="600"/>
              </a:spcAft>
              <a:buSzPct val="100000"/>
              <a:buChar char="–"/>
            </a:pPr>
            <a:r>
              <a:rPr lang="en-US" sz="980" dirty="0">
                <a:solidFill>
                  <a:srgbClr val="1F2A37"/>
                </a:solidFill>
                <a:latin typeface="Calibri" pitchFamily="34" charset="0"/>
                <a:ea typeface="Calibri" pitchFamily="34" charset="-122"/>
                <a:cs typeface="Calibri" pitchFamily="34" charset="-120"/>
              </a:rPr>
              <a:t>Table DimDate créée en DAX (CALENDAR)</a:t>
            </a:r>
            <a:endParaRPr lang="en-US" sz="980" dirty="0"/>
          </a:p>
          <a:p>
            <a:pPr marL="342900" indent="-342900">
              <a:lnSpc>
                <a:spcPct val="115000"/>
              </a:lnSpc>
              <a:spcAft>
                <a:spcPts val="600"/>
              </a:spcAft>
              <a:buSzPct val="100000"/>
              <a:buChar char="–"/>
            </a:pPr>
            <a:r>
              <a:rPr lang="en-US" sz="980" dirty="0">
                <a:solidFill>
                  <a:srgbClr val="1F2A37"/>
                </a:solidFill>
                <a:latin typeface="Calibri" pitchFamily="34" charset="0"/>
                <a:ea typeface="Calibri" pitchFamily="34" charset="-122"/>
                <a:cs typeface="Calibri" pitchFamily="34" charset="-120"/>
              </a:rPr>
              <a:t>Colonnes : Année, Mois, Trimestre, Semaine</a:t>
            </a:r>
            <a:endParaRPr lang="en-US" sz="980" dirty="0"/>
          </a:p>
          <a:p>
            <a:pPr marL="342900" indent="-342900">
              <a:lnSpc>
                <a:spcPct val="115000"/>
              </a:lnSpc>
              <a:spcAft>
                <a:spcPts val="600"/>
              </a:spcAft>
              <a:buSzPct val="100000"/>
              <a:buChar char="–"/>
            </a:pPr>
            <a:r>
              <a:rPr lang="en-US" sz="980" dirty="0">
                <a:solidFill>
                  <a:srgbClr val="1F2A37"/>
                </a:solidFill>
                <a:latin typeface="Calibri" pitchFamily="34" charset="0"/>
                <a:ea typeface="Calibri" pitchFamily="34" charset="-122"/>
                <a:cs typeface="Calibri" pitchFamily="34" charset="-120"/>
              </a:rPr>
              <a:t>DimDate reliée à courses[year]</a:t>
            </a:r>
            <a:endParaRPr lang="en-US" sz="980" dirty="0"/>
          </a:p>
        </p:txBody>
      </p:sp>
      <p:sp>
        <p:nvSpPr>
          <p:cNvPr id="25" name="Text 21"/>
          <p:cNvSpPr/>
          <p:nvPr/>
        </p:nvSpPr>
        <p:spPr>
          <a:xfrm>
            <a:off x="12408227" y="5896975"/>
            <a:ext cx="36576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rtlCol="0" anchor="ctr"/>
          <a:lstStyle/>
          <a:p>
            <a:pPr marL="0" indent="0">
              <a:buNone/>
            </a:pPr>
            <a:r>
              <a:rPr lang="en-US" sz="1200" b="1" kern="0" spc="200" dirty="0">
                <a:solidFill>
                  <a:srgbClr val="3E7CB1"/>
                </a:solidFill>
                <a:latin typeface="Calibri" pitchFamily="34" charset="0"/>
                <a:ea typeface="Calibri" pitchFamily="34" charset="-122"/>
                <a:cs typeface="Calibri" pitchFamily="34" charset="-120"/>
              </a:rPr>
              <a:t>LE RAPPORT POWER BI</a:t>
            </a:r>
            <a:endParaRPr lang="en-US" sz="1200" dirty="0"/>
          </a:p>
        </p:txBody>
      </p:sp>
      <p:sp>
        <p:nvSpPr>
          <p:cNvPr id="3" name="Text 1"/>
          <p:cNvSpPr/>
          <p:nvPr/>
        </p:nvSpPr>
        <p:spPr>
          <a:xfrm>
            <a:off x="502920" y="521208"/>
            <a:ext cx="10058400" cy="594360"/>
          </a:xfrm>
          <a:prstGeom prst="rect">
            <a:avLst/>
          </a:prstGeom>
          <a:noFill/>
          <a:ln/>
        </p:spPr>
        <p:txBody>
          <a:bodyPr wrap="square" rtlCol="0" anchor="ctr"/>
          <a:lstStyle/>
          <a:p>
            <a:pPr marL="0" indent="0">
              <a:buNone/>
            </a:pPr>
            <a:r>
              <a:rPr lang="en-US" sz="2600" b="1" dirty="0">
                <a:solidFill>
                  <a:srgbClr val="1B3A63"/>
                </a:solidFill>
                <a:latin typeface="Cambria" pitchFamily="34" charset="0"/>
                <a:ea typeface="Cambria" pitchFamily="34" charset="-122"/>
                <a:cs typeface="Cambria" pitchFamily="34" charset="-120"/>
              </a:rPr>
              <a:t>Trois pages, une vision à 360°</a:t>
            </a:r>
            <a:endParaRPr lang="en-US" sz="2600" dirty="0"/>
          </a:p>
        </p:txBody>
      </p:sp>
      <p:sp>
        <p:nvSpPr>
          <p:cNvPr id="4" name="Shape 2"/>
          <p:cNvSpPr/>
          <p:nvPr/>
        </p:nvSpPr>
        <p:spPr>
          <a:xfrm>
            <a:off x="502920" y="1234440"/>
            <a:ext cx="3429000" cy="3246120"/>
          </a:xfrm>
          <a:prstGeom prst="roundRect">
            <a:avLst>
              <a:gd name="adj" fmla="val 2254"/>
            </a:avLst>
          </a:prstGeom>
          <a:solidFill>
            <a:srgbClr val="F6F8FB"/>
          </a:solidFill>
          <a:ln/>
          <a:effectLst>
            <a:outerShdw blurRad="101600" dist="38100" dir="2700000" algn="bl" rotWithShape="0">
              <a:srgbClr val="1B3A63">
                <a:alpha val="12000"/>
              </a:srgbClr>
            </a:outerShdw>
          </a:effectLst>
        </p:spPr>
        <p:txBody>
          <a:bodyPr/>
          <a:lstStyle/>
          <a:p>
            <a:endParaRPr lang="fr-FR"/>
          </a:p>
        </p:txBody>
      </p:sp>
      <p:sp>
        <p:nvSpPr>
          <p:cNvPr id="5" name="Shape 3"/>
          <p:cNvSpPr/>
          <p:nvPr/>
        </p:nvSpPr>
        <p:spPr>
          <a:xfrm>
            <a:off x="502920" y="1234440"/>
            <a:ext cx="3429000" cy="502920"/>
          </a:xfrm>
          <a:prstGeom prst="roundRect">
            <a:avLst>
              <a:gd name="adj" fmla="val 14545"/>
            </a:avLst>
          </a:prstGeom>
          <a:solidFill>
            <a:srgbClr val="1B3A63"/>
          </a:solidFill>
          <a:ln/>
        </p:spPr>
        <p:txBody>
          <a:bodyPr/>
          <a:lstStyle/>
          <a:p>
            <a:endParaRPr lang="fr-FR"/>
          </a:p>
        </p:txBody>
      </p:sp>
      <p:sp>
        <p:nvSpPr>
          <p:cNvPr id="6" name="Shape 4"/>
          <p:cNvSpPr/>
          <p:nvPr/>
        </p:nvSpPr>
        <p:spPr>
          <a:xfrm>
            <a:off x="502920" y="1490472"/>
            <a:ext cx="3429000" cy="246888"/>
          </a:xfrm>
          <a:prstGeom prst="rect">
            <a:avLst/>
          </a:prstGeom>
          <a:solidFill>
            <a:srgbClr val="1B3A63"/>
          </a:solidFill>
          <a:ln/>
        </p:spPr>
        <p:txBody>
          <a:bodyPr/>
          <a:lstStyle/>
          <a:p>
            <a:endParaRPr lang="fr-FR"/>
          </a:p>
        </p:txBody>
      </p:sp>
      <p:sp>
        <p:nvSpPr>
          <p:cNvPr id="7" name="Text 5"/>
          <p:cNvSpPr/>
          <p:nvPr/>
        </p:nvSpPr>
        <p:spPr>
          <a:xfrm>
            <a:off x="502920" y="1234440"/>
            <a:ext cx="342900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Vue Élèves</a:t>
            </a:r>
            <a:endParaRPr lang="en-US" sz="1400" dirty="0"/>
          </a:p>
        </p:txBody>
      </p:sp>
      <p:sp>
        <p:nvSpPr>
          <p:cNvPr id="8" name="Text 6"/>
          <p:cNvSpPr/>
          <p:nvPr/>
        </p:nvSpPr>
        <p:spPr>
          <a:xfrm>
            <a:off x="640080" y="1920240"/>
            <a:ext cx="1531620" cy="411480"/>
          </a:xfrm>
          <a:prstGeom prst="rect">
            <a:avLst/>
          </a:prstGeom>
          <a:noFill/>
          <a:ln/>
        </p:spPr>
        <p:txBody>
          <a:bodyPr wrap="square" rtlCol="0" anchor="ctr"/>
          <a:lstStyle/>
          <a:p>
            <a:pPr marL="0" indent="0" algn="ctr">
              <a:buNone/>
            </a:pPr>
            <a:r>
              <a:rPr lang="en-US" sz="1900" b="1" dirty="0">
                <a:solidFill>
                  <a:srgbClr val="1B3A63"/>
                </a:solidFill>
                <a:latin typeface="Cambria" pitchFamily="34" charset="0"/>
                <a:ea typeface="Cambria" pitchFamily="34" charset="-122"/>
                <a:cs typeface="Cambria" pitchFamily="34" charset="-120"/>
              </a:rPr>
              <a:t>120</a:t>
            </a:r>
            <a:endParaRPr lang="en-US" sz="1900" dirty="0"/>
          </a:p>
        </p:txBody>
      </p:sp>
      <p:sp>
        <p:nvSpPr>
          <p:cNvPr id="9" name="Text 7"/>
          <p:cNvSpPr/>
          <p:nvPr/>
        </p:nvSpPr>
        <p:spPr>
          <a:xfrm>
            <a:off x="640080" y="2304288"/>
            <a:ext cx="1531620" cy="2743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élèves</a:t>
            </a:r>
            <a:endParaRPr lang="en-US" sz="900" dirty="0"/>
          </a:p>
        </p:txBody>
      </p:sp>
      <p:sp>
        <p:nvSpPr>
          <p:cNvPr id="10" name="Text 8"/>
          <p:cNvSpPr/>
          <p:nvPr/>
        </p:nvSpPr>
        <p:spPr>
          <a:xfrm>
            <a:off x="2263140" y="1920240"/>
            <a:ext cx="1531620" cy="411480"/>
          </a:xfrm>
          <a:prstGeom prst="rect">
            <a:avLst/>
          </a:prstGeom>
          <a:noFill/>
          <a:ln/>
        </p:spPr>
        <p:txBody>
          <a:bodyPr wrap="square" rtlCol="0" anchor="ctr"/>
          <a:lstStyle/>
          <a:p>
            <a:pPr marL="0" indent="0" algn="ctr">
              <a:buNone/>
            </a:pPr>
            <a:r>
              <a:rPr lang="en-US" sz="1900" b="1" dirty="0">
                <a:solidFill>
                  <a:srgbClr val="1B3A63"/>
                </a:solidFill>
                <a:latin typeface="Cambria" pitchFamily="34" charset="0"/>
                <a:ea typeface="Cambria" pitchFamily="34" charset="-122"/>
                <a:cs typeface="Cambria" pitchFamily="34" charset="-120"/>
              </a:rPr>
              <a:t>11.08</a:t>
            </a:r>
            <a:endParaRPr lang="en-US" sz="1900" dirty="0"/>
          </a:p>
        </p:txBody>
      </p:sp>
      <p:sp>
        <p:nvSpPr>
          <p:cNvPr id="11" name="Text 9"/>
          <p:cNvSpPr/>
          <p:nvPr/>
        </p:nvSpPr>
        <p:spPr>
          <a:xfrm>
            <a:off x="2263140" y="2304288"/>
            <a:ext cx="1531620" cy="2743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moy.</a:t>
            </a:r>
            <a:endParaRPr lang="en-US" sz="900" dirty="0"/>
          </a:p>
        </p:txBody>
      </p:sp>
      <p:sp>
        <p:nvSpPr>
          <p:cNvPr id="12" name="Text 10"/>
          <p:cNvSpPr/>
          <p:nvPr/>
        </p:nvSpPr>
        <p:spPr>
          <a:xfrm>
            <a:off x="640080" y="2697480"/>
            <a:ext cx="1531620" cy="411480"/>
          </a:xfrm>
          <a:prstGeom prst="rect">
            <a:avLst/>
          </a:prstGeom>
          <a:noFill/>
          <a:ln/>
        </p:spPr>
        <p:txBody>
          <a:bodyPr wrap="square" rtlCol="0" anchor="ctr"/>
          <a:lstStyle/>
          <a:p>
            <a:pPr marL="0" indent="0" algn="ctr">
              <a:buNone/>
            </a:pPr>
            <a:r>
              <a:rPr lang="en-US" sz="1900" b="1" dirty="0">
                <a:solidFill>
                  <a:srgbClr val="1B3A63"/>
                </a:solidFill>
                <a:latin typeface="Cambria" pitchFamily="34" charset="0"/>
                <a:ea typeface="Cambria" pitchFamily="34" charset="-122"/>
                <a:cs typeface="Cambria" pitchFamily="34" charset="-120"/>
              </a:rPr>
              <a:t>54.8%</a:t>
            </a:r>
            <a:endParaRPr lang="en-US" sz="1900" dirty="0"/>
          </a:p>
        </p:txBody>
      </p:sp>
      <p:sp>
        <p:nvSpPr>
          <p:cNvPr id="13" name="Text 11"/>
          <p:cNvSpPr/>
          <p:nvPr/>
        </p:nvSpPr>
        <p:spPr>
          <a:xfrm>
            <a:off x="640080" y="3081528"/>
            <a:ext cx="1531620" cy="2743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réussite</a:t>
            </a:r>
            <a:endParaRPr lang="en-US" sz="900" dirty="0"/>
          </a:p>
        </p:txBody>
      </p:sp>
      <p:sp>
        <p:nvSpPr>
          <p:cNvPr id="14" name="Text 12"/>
          <p:cNvSpPr/>
          <p:nvPr/>
        </p:nvSpPr>
        <p:spPr>
          <a:xfrm>
            <a:off x="2263140" y="2697480"/>
            <a:ext cx="1531620" cy="411480"/>
          </a:xfrm>
          <a:prstGeom prst="rect">
            <a:avLst/>
          </a:prstGeom>
          <a:noFill/>
          <a:ln/>
        </p:spPr>
        <p:txBody>
          <a:bodyPr wrap="square" rtlCol="0" anchor="ctr"/>
          <a:lstStyle/>
          <a:p>
            <a:pPr marL="0" indent="0" algn="ctr">
              <a:buNone/>
            </a:pPr>
            <a:r>
              <a:rPr lang="en-US" sz="1900" b="1" dirty="0">
                <a:solidFill>
                  <a:srgbClr val="1B3A63"/>
                </a:solidFill>
                <a:latin typeface="Cambria" pitchFamily="34" charset="0"/>
                <a:ea typeface="Cambria" pitchFamily="34" charset="-122"/>
                <a:cs typeface="Cambria" pitchFamily="34" charset="-120"/>
              </a:rPr>
              <a:t>44</a:t>
            </a:r>
            <a:endParaRPr lang="en-US" sz="1900" dirty="0"/>
          </a:p>
        </p:txBody>
      </p:sp>
      <p:sp>
        <p:nvSpPr>
          <p:cNvPr id="15" name="Text 13"/>
          <p:cNvSpPr/>
          <p:nvPr/>
        </p:nvSpPr>
        <p:spPr>
          <a:xfrm>
            <a:off x="2263140" y="3081528"/>
            <a:ext cx="1531620" cy="2743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à risque</a:t>
            </a:r>
            <a:endParaRPr lang="en-US" sz="900" dirty="0"/>
          </a:p>
        </p:txBody>
      </p:sp>
      <p:sp>
        <p:nvSpPr>
          <p:cNvPr id="16" name="Shape 14"/>
          <p:cNvSpPr/>
          <p:nvPr/>
        </p:nvSpPr>
        <p:spPr>
          <a:xfrm>
            <a:off x="685800" y="3566160"/>
            <a:ext cx="3063240" cy="0"/>
          </a:xfrm>
          <a:prstGeom prst="line">
            <a:avLst/>
          </a:prstGeom>
          <a:noFill/>
          <a:ln w="12700">
            <a:solidFill>
              <a:srgbClr val="E2E8F0"/>
            </a:solidFill>
            <a:prstDash val="solid"/>
          </a:ln>
        </p:spPr>
        <p:txBody>
          <a:bodyPr/>
          <a:lstStyle/>
          <a:p>
            <a:endParaRPr lang="fr-FR"/>
          </a:p>
        </p:txBody>
      </p:sp>
      <p:sp>
        <p:nvSpPr>
          <p:cNvPr id="17" name="Text 15"/>
          <p:cNvSpPr/>
          <p:nvPr/>
        </p:nvSpPr>
        <p:spPr>
          <a:xfrm>
            <a:off x="685800" y="3685032"/>
            <a:ext cx="3063240" cy="731520"/>
          </a:xfrm>
          <a:prstGeom prst="rect">
            <a:avLst/>
          </a:prstGeom>
          <a:noFill/>
          <a:ln/>
        </p:spPr>
        <p:txBody>
          <a:bodyPr wrap="square" rtlCol="0" anchor="ctr"/>
          <a:lstStyle/>
          <a:p>
            <a:pPr marL="0" indent="0">
              <a:lnSpc>
                <a:spcPct val="115000"/>
              </a:lnSpc>
              <a:buNone/>
            </a:pPr>
            <a:r>
              <a:rPr lang="en-US" sz="950" i="1" dirty="0">
                <a:solidFill>
                  <a:srgbClr val="1F2A37"/>
                </a:solidFill>
                <a:latin typeface="Calibri" pitchFamily="34" charset="0"/>
                <a:ea typeface="Calibri" pitchFamily="34" charset="-122"/>
                <a:cs typeface="Calibri" pitchFamily="34" charset="-120"/>
              </a:rPr>
              <a:t>Le risque grimpe nettement au-delà de 20 absences, où la moyenne chute sous 10/20.</a:t>
            </a:r>
            <a:endParaRPr lang="en-US" sz="950" dirty="0"/>
          </a:p>
        </p:txBody>
      </p:sp>
      <p:sp>
        <p:nvSpPr>
          <p:cNvPr id="18" name="Shape 16"/>
          <p:cNvSpPr/>
          <p:nvPr/>
        </p:nvSpPr>
        <p:spPr>
          <a:xfrm>
            <a:off x="3977640" y="1234440"/>
            <a:ext cx="3429000" cy="3246120"/>
          </a:xfrm>
          <a:prstGeom prst="roundRect">
            <a:avLst>
              <a:gd name="adj" fmla="val 2254"/>
            </a:avLst>
          </a:prstGeom>
          <a:solidFill>
            <a:srgbClr val="F6F8FB"/>
          </a:solidFill>
          <a:ln/>
          <a:effectLst>
            <a:outerShdw blurRad="101600" dist="38100" dir="2700000" algn="bl" rotWithShape="0">
              <a:srgbClr val="1B3A63">
                <a:alpha val="12000"/>
              </a:srgbClr>
            </a:outerShdw>
          </a:effectLst>
        </p:spPr>
        <p:txBody>
          <a:bodyPr/>
          <a:lstStyle/>
          <a:p>
            <a:endParaRPr lang="fr-FR"/>
          </a:p>
        </p:txBody>
      </p:sp>
      <p:sp>
        <p:nvSpPr>
          <p:cNvPr id="19" name="Shape 17"/>
          <p:cNvSpPr/>
          <p:nvPr/>
        </p:nvSpPr>
        <p:spPr>
          <a:xfrm>
            <a:off x="3977640" y="1234440"/>
            <a:ext cx="3429000" cy="502920"/>
          </a:xfrm>
          <a:prstGeom prst="roundRect">
            <a:avLst>
              <a:gd name="adj" fmla="val 14545"/>
            </a:avLst>
          </a:prstGeom>
          <a:solidFill>
            <a:srgbClr val="3E7CB1"/>
          </a:solidFill>
          <a:ln/>
        </p:spPr>
        <p:txBody>
          <a:bodyPr/>
          <a:lstStyle/>
          <a:p>
            <a:endParaRPr lang="fr-FR"/>
          </a:p>
        </p:txBody>
      </p:sp>
      <p:sp>
        <p:nvSpPr>
          <p:cNvPr id="20" name="Shape 18"/>
          <p:cNvSpPr/>
          <p:nvPr/>
        </p:nvSpPr>
        <p:spPr>
          <a:xfrm>
            <a:off x="3977640" y="1490472"/>
            <a:ext cx="3429000" cy="246888"/>
          </a:xfrm>
          <a:prstGeom prst="rect">
            <a:avLst/>
          </a:prstGeom>
          <a:solidFill>
            <a:srgbClr val="3E7CB1"/>
          </a:solidFill>
          <a:ln/>
        </p:spPr>
        <p:txBody>
          <a:bodyPr/>
          <a:lstStyle/>
          <a:p>
            <a:endParaRPr lang="fr-FR"/>
          </a:p>
        </p:txBody>
      </p:sp>
      <p:sp>
        <p:nvSpPr>
          <p:cNvPr id="21" name="Text 19"/>
          <p:cNvSpPr/>
          <p:nvPr/>
        </p:nvSpPr>
        <p:spPr>
          <a:xfrm>
            <a:off x="3977640" y="1234440"/>
            <a:ext cx="342900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Vue Enseignants</a:t>
            </a:r>
            <a:endParaRPr lang="en-US" sz="1400" dirty="0"/>
          </a:p>
        </p:txBody>
      </p:sp>
      <p:sp>
        <p:nvSpPr>
          <p:cNvPr id="22" name="Text 20"/>
          <p:cNvSpPr/>
          <p:nvPr/>
        </p:nvSpPr>
        <p:spPr>
          <a:xfrm>
            <a:off x="4114800" y="1920240"/>
            <a:ext cx="1531620" cy="411480"/>
          </a:xfrm>
          <a:prstGeom prst="rect">
            <a:avLst/>
          </a:prstGeom>
          <a:noFill/>
          <a:ln/>
        </p:spPr>
        <p:txBody>
          <a:bodyPr wrap="square" rtlCol="0" anchor="ctr"/>
          <a:lstStyle/>
          <a:p>
            <a:pPr marL="0" indent="0" algn="ctr">
              <a:buNone/>
            </a:pPr>
            <a:r>
              <a:rPr lang="en-US" sz="1900" b="1" dirty="0">
                <a:solidFill>
                  <a:srgbClr val="1B3A63"/>
                </a:solidFill>
                <a:latin typeface="Cambria" pitchFamily="34" charset="0"/>
                <a:ea typeface="Cambria" pitchFamily="34" charset="-122"/>
                <a:cs typeface="Cambria" pitchFamily="34" charset="-120"/>
              </a:rPr>
              <a:t>20</a:t>
            </a:r>
            <a:endParaRPr lang="en-US" sz="1900" dirty="0"/>
          </a:p>
        </p:txBody>
      </p:sp>
      <p:sp>
        <p:nvSpPr>
          <p:cNvPr id="23" name="Text 21"/>
          <p:cNvSpPr/>
          <p:nvPr/>
        </p:nvSpPr>
        <p:spPr>
          <a:xfrm>
            <a:off x="4114800" y="2304288"/>
            <a:ext cx="1531620" cy="2743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profs</a:t>
            </a:r>
            <a:endParaRPr lang="en-US" sz="900" dirty="0"/>
          </a:p>
        </p:txBody>
      </p:sp>
      <p:sp>
        <p:nvSpPr>
          <p:cNvPr id="24" name="Text 22"/>
          <p:cNvSpPr/>
          <p:nvPr/>
        </p:nvSpPr>
        <p:spPr>
          <a:xfrm>
            <a:off x="5737860" y="1920240"/>
            <a:ext cx="1531620" cy="411480"/>
          </a:xfrm>
          <a:prstGeom prst="rect">
            <a:avLst/>
          </a:prstGeom>
          <a:noFill/>
          <a:ln/>
        </p:spPr>
        <p:txBody>
          <a:bodyPr wrap="square" rtlCol="0" anchor="ctr"/>
          <a:lstStyle/>
          <a:p>
            <a:pPr marL="0" indent="0" algn="ctr">
              <a:buNone/>
            </a:pPr>
            <a:r>
              <a:rPr lang="en-US" sz="1900" b="1" dirty="0">
                <a:solidFill>
                  <a:srgbClr val="1B3A63"/>
                </a:solidFill>
                <a:latin typeface="Cambria" pitchFamily="34" charset="0"/>
                <a:ea typeface="Cambria" pitchFamily="34" charset="-122"/>
                <a:cs typeface="Cambria" pitchFamily="34" charset="-120"/>
              </a:rPr>
              <a:t>17.2</a:t>
            </a:r>
            <a:endParaRPr lang="en-US" sz="1900" dirty="0"/>
          </a:p>
        </p:txBody>
      </p:sp>
      <p:sp>
        <p:nvSpPr>
          <p:cNvPr id="25" name="Text 23"/>
          <p:cNvSpPr/>
          <p:nvPr/>
        </p:nvSpPr>
        <p:spPr>
          <a:xfrm>
            <a:off x="5737860" y="2304288"/>
            <a:ext cx="1531620" cy="2743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ans anc.</a:t>
            </a:r>
            <a:endParaRPr lang="en-US" sz="900" dirty="0"/>
          </a:p>
        </p:txBody>
      </p:sp>
      <p:sp>
        <p:nvSpPr>
          <p:cNvPr id="26" name="Text 24"/>
          <p:cNvSpPr/>
          <p:nvPr/>
        </p:nvSpPr>
        <p:spPr>
          <a:xfrm>
            <a:off x="4114800" y="2697480"/>
            <a:ext cx="1531620" cy="411480"/>
          </a:xfrm>
          <a:prstGeom prst="rect">
            <a:avLst/>
          </a:prstGeom>
          <a:noFill/>
          <a:ln/>
        </p:spPr>
        <p:txBody>
          <a:bodyPr wrap="square" rtlCol="0" anchor="ctr"/>
          <a:lstStyle/>
          <a:p>
            <a:pPr marL="0" indent="0" algn="ctr">
              <a:buNone/>
            </a:pPr>
            <a:r>
              <a:rPr lang="en-US" sz="1900" b="1" dirty="0">
                <a:solidFill>
                  <a:srgbClr val="1B3A63"/>
                </a:solidFill>
                <a:latin typeface="Cambria" pitchFamily="34" charset="0"/>
                <a:ea typeface="Cambria" pitchFamily="34" charset="-122"/>
                <a:cs typeface="Cambria" pitchFamily="34" charset="-120"/>
              </a:rPr>
              <a:t>22.1</a:t>
            </a:r>
            <a:endParaRPr lang="en-US" sz="1900" dirty="0"/>
          </a:p>
        </p:txBody>
      </p:sp>
      <p:sp>
        <p:nvSpPr>
          <p:cNvPr id="27" name="Text 25"/>
          <p:cNvSpPr/>
          <p:nvPr/>
        </p:nvSpPr>
        <p:spPr>
          <a:xfrm>
            <a:off x="4114800" y="3081528"/>
            <a:ext cx="1531620" cy="2743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h/sem.</a:t>
            </a:r>
            <a:endParaRPr lang="en-US" sz="900" dirty="0"/>
          </a:p>
        </p:txBody>
      </p:sp>
      <p:sp>
        <p:nvSpPr>
          <p:cNvPr id="28" name="Text 26"/>
          <p:cNvSpPr/>
          <p:nvPr/>
        </p:nvSpPr>
        <p:spPr>
          <a:xfrm>
            <a:off x="5737860" y="2697480"/>
            <a:ext cx="1531620" cy="411480"/>
          </a:xfrm>
          <a:prstGeom prst="rect">
            <a:avLst/>
          </a:prstGeom>
          <a:noFill/>
          <a:ln/>
        </p:spPr>
        <p:txBody>
          <a:bodyPr wrap="square" rtlCol="0" anchor="ctr"/>
          <a:lstStyle/>
          <a:p>
            <a:pPr marL="0" indent="0" algn="ctr">
              <a:buNone/>
            </a:pPr>
            <a:r>
              <a:rPr lang="en-US" sz="1900" b="1" dirty="0">
                <a:solidFill>
                  <a:srgbClr val="1B3A63"/>
                </a:solidFill>
                <a:latin typeface="Cambria" pitchFamily="34" charset="0"/>
                <a:ea typeface="Cambria" pitchFamily="34" charset="-122"/>
                <a:cs typeface="Cambria" pitchFamily="34" charset="-120"/>
              </a:rPr>
              <a:t>3.18</a:t>
            </a:r>
            <a:endParaRPr lang="en-US" sz="1900" dirty="0"/>
          </a:p>
        </p:txBody>
      </p:sp>
      <p:sp>
        <p:nvSpPr>
          <p:cNvPr id="29" name="Text 27"/>
          <p:cNvSpPr/>
          <p:nvPr/>
        </p:nvSpPr>
        <p:spPr>
          <a:xfrm>
            <a:off x="5737860" y="3081528"/>
            <a:ext cx="1531620" cy="2743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éval.</a:t>
            </a:r>
            <a:endParaRPr lang="en-US" sz="900" dirty="0"/>
          </a:p>
        </p:txBody>
      </p:sp>
      <p:sp>
        <p:nvSpPr>
          <p:cNvPr id="30" name="Shape 28"/>
          <p:cNvSpPr/>
          <p:nvPr/>
        </p:nvSpPr>
        <p:spPr>
          <a:xfrm>
            <a:off x="4160520" y="3566160"/>
            <a:ext cx="3063240" cy="0"/>
          </a:xfrm>
          <a:prstGeom prst="line">
            <a:avLst/>
          </a:prstGeom>
          <a:noFill/>
          <a:ln w="12700">
            <a:solidFill>
              <a:srgbClr val="E2E8F0"/>
            </a:solidFill>
            <a:prstDash val="solid"/>
          </a:ln>
        </p:spPr>
        <p:txBody>
          <a:bodyPr/>
          <a:lstStyle/>
          <a:p>
            <a:endParaRPr lang="fr-FR"/>
          </a:p>
        </p:txBody>
      </p:sp>
      <p:sp>
        <p:nvSpPr>
          <p:cNvPr id="31" name="Text 29"/>
          <p:cNvSpPr/>
          <p:nvPr/>
        </p:nvSpPr>
        <p:spPr>
          <a:xfrm>
            <a:off x="4160520" y="3685032"/>
            <a:ext cx="3063240" cy="731520"/>
          </a:xfrm>
          <a:prstGeom prst="rect">
            <a:avLst/>
          </a:prstGeom>
          <a:noFill/>
          <a:ln/>
        </p:spPr>
        <p:txBody>
          <a:bodyPr wrap="square" rtlCol="0" anchor="ctr"/>
          <a:lstStyle/>
          <a:p>
            <a:pPr marL="0" indent="0">
              <a:lnSpc>
                <a:spcPct val="115000"/>
              </a:lnSpc>
              <a:buNone/>
            </a:pPr>
            <a:r>
              <a:rPr lang="en-US" sz="950" i="1" dirty="0">
                <a:solidFill>
                  <a:srgbClr val="1F2A37"/>
                </a:solidFill>
                <a:latin typeface="Calibri" pitchFamily="34" charset="0"/>
                <a:ea typeface="Calibri" pitchFamily="34" charset="-122"/>
                <a:cs typeface="Calibri" pitchFamily="34" charset="-120"/>
              </a:rPr>
              <a:t>Écart marqué : Physique-Chimie/Maths (4.6–5.0) vs Anglais/Français (1.5–1.6).</a:t>
            </a:r>
            <a:endParaRPr lang="en-US" sz="950" dirty="0"/>
          </a:p>
        </p:txBody>
      </p:sp>
      <p:sp>
        <p:nvSpPr>
          <p:cNvPr id="32" name="Shape 30"/>
          <p:cNvSpPr/>
          <p:nvPr/>
        </p:nvSpPr>
        <p:spPr>
          <a:xfrm>
            <a:off x="7452360" y="1234440"/>
            <a:ext cx="3429000" cy="3246120"/>
          </a:xfrm>
          <a:prstGeom prst="roundRect">
            <a:avLst>
              <a:gd name="adj" fmla="val 2254"/>
            </a:avLst>
          </a:prstGeom>
          <a:solidFill>
            <a:srgbClr val="F6F8FB"/>
          </a:solidFill>
          <a:ln/>
          <a:effectLst>
            <a:outerShdw blurRad="101600" dist="38100" dir="2700000" algn="bl" rotWithShape="0">
              <a:srgbClr val="1B3A63">
                <a:alpha val="12000"/>
              </a:srgbClr>
            </a:outerShdw>
          </a:effectLst>
        </p:spPr>
        <p:txBody>
          <a:bodyPr/>
          <a:lstStyle/>
          <a:p>
            <a:endParaRPr lang="fr-FR"/>
          </a:p>
        </p:txBody>
      </p:sp>
      <p:sp>
        <p:nvSpPr>
          <p:cNvPr id="33" name="Shape 31"/>
          <p:cNvSpPr/>
          <p:nvPr/>
        </p:nvSpPr>
        <p:spPr>
          <a:xfrm>
            <a:off x="7452360" y="1234440"/>
            <a:ext cx="3429000" cy="502920"/>
          </a:xfrm>
          <a:prstGeom prst="roundRect">
            <a:avLst>
              <a:gd name="adj" fmla="val 14545"/>
            </a:avLst>
          </a:prstGeom>
          <a:solidFill>
            <a:srgbClr val="E8743B"/>
          </a:solidFill>
          <a:ln/>
        </p:spPr>
        <p:txBody>
          <a:bodyPr/>
          <a:lstStyle/>
          <a:p>
            <a:endParaRPr lang="fr-FR"/>
          </a:p>
        </p:txBody>
      </p:sp>
      <p:sp>
        <p:nvSpPr>
          <p:cNvPr id="34" name="Shape 32"/>
          <p:cNvSpPr/>
          <p:nvPr/>
        </p:nvSpPr>
        <p:spPr>
          <a:xfrm>
            <a:off x="7452360" y="1490472"/>
            <a:ext cx="3429000" cy="246888"/>
          </a:xfrm>
          <a:prstGeom prst="rect">
            <a:avLst/>
          </a:prstGeom>
          <a:solidFill>
            <a:srgbClr val="E8743B"/>
          </a:solidFill>
          <a:ln/>
        </p:spPr>
        <p:txBody>
          <a:bodyPr/>
          <a:lstStyle/>
          <a:p>
            <a:endParaRPr lang="fr-FR"/>
          </a:p>
        </p:txBody>
      </p:sp>
      <p:sp>
        <p:nvSpPr>
          <p:cNvPr id="35" name="Text 33"/>
          <p:cNvSpPr/>
          <p:nvPr/>
        </p:nvSpPr>
        <p:spPr>
          <a:xfrm>
            <a:off x="7452360" y="1234440"/>
            <a:ext cx="342900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Vue Cours</a:t>
            </a:r>
            <a:endParaRPr lang="en-US" sz="1400" dirty="0"/>
          </a:p>
        </p:txBody>
      </p:sp>
      <p:sp>
        <p:nvSpPr>
          <p:cNvPr id="36" name="Text 34"/>
          <p:cNvSpPr/>
          <p:nvPr/>
        </p:nvSpPr>
        <p:spPr>
          <a:xfrm>
            <a:off x="7589520" y="1920240"/>
            <a:ext cx="1531620" cy="411480"/>
          </a:xfrm>
          <a:prstGeom prst="rect">
            <a:avLst/>
          </a:prstGeom>
          <a:noFill/>
          <a:ln/>
        </p:spPr>
        <p:txBody>
          <a:bodyPr wrap="square" rtlCol="0" anchor="ctr"/>
          <a:lstStyle/>
          <a:p>
            <a:pPr marL="0" indent="0" algn="ctr">
              <a:buNone/>
            </a:pPr>
            <a:r>
              <a:rPr lang="en-US" sz="1900" b="1" dirty="0">
                <a:solidFill>
                  <a:srgbClr val="1B3A63"/>
                </a:solidFill>
                <a:latin typeface="Cambria" pitchFamily="34" charset="0"/>
                <a:ea typeface="Cambria" pitchFamily="34" charset="-122"/>
                <a:cs typeface="Cambria" pitchFamily="34" charset="-120"/>
              </a:rPr>
              <a:t>500</a:t>
            </a:r>
            <a:endParaRPr lang="en-US" sz="1900" dirty="0"/>
          </a:p>
        </p:txBody>
      </p:sp>
      <p:sp>
        <p:nvSpPr>
          <p:cNvPr id="37" name="Text 35"/>
          <p:cNvSpPr/>
          <p:nvPr/>
        </p:nvSpPr>
        <p:spPr>
          <a:xfrm>
            <a:off x="7589520" y="2304288"/>
            <a:ext cx="1531620" cy="2743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cours</a:t>
            </a:r>
            <a:endParaRPr lang="en-US" sz="900" dirty="0"/>
          </a:p>
        </p:txBody>
      </p:sp>
      <p:sp>
        <p:nvSpPr>
          <p:cNvPr id="38" name="Text 36"/>
          <p:cNvSpPr/>
          <p:nvPr/>
        </p:nvSpPr>
        <p:spPr>
          <a:xfrm>
            <a:off x="9212580" y="1920240"/>
            <a:ext cx="1531620" cy="411480"/>
          </a:xfrm>
          <a:prstGeom prst="rect">
            <a:avLst/>
          </a:prstGeom>
          <a:noFill/>
          <a:ln/>
        </p:spPr>
        <p:txBody>
          <a:bodyPr wrap="square" rtlCol="0" anchor="ctr"/>
          <a:lstStyle/>
          <a:p>
            <a:pPr marL="0" indent="0" algn="ctr">
              <a:buNone/>
            </a:pPr>
            <a:r>
              <a:rPr lang="en-US" sz="1900" b="1" dirty="0">
                <a:solidFill>
                  <a:srgbClr val="1B3A63"/>
                </a:solidFill>
                <a:latin typeface="Cambria" pitchFamily="34" charset="0"/>
                <a:ea typeface="Cambria" pitchFamily="34" charset="-122"/>
                <a:cs typeface="Cambria" pitchFamily="34" charset="-120"/>
              </a:rPr>
              <a:t>80.9%</a:t>
            </a:r>
            <a:endParaRPr lang="en-US" sz="1900" dirty="0"/>
          </a:p>
        </p:txBody>
      </p:sp>
      <p:sp>
        <p:nvSpPr>
          <p:cNvPr id="39" name="Text 37"/>
          <p:cNvSpPr/>
          <p:nvPr/>
        </p:nvSpPr>
        <p:spPr>
          <a:xfrm>
            <a:off x="9212580" y="2304288"/>
            <a:ext cx="1531620" cy="2743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réalisé</a:t>
            </a:r>
            <a:endParaRPr lang="en-US" sz="900" dirty="0"/>
          </a:p>
        </p:txBody>
      </p:sp>
      <p:sp>
        <p:nvSpPr>
          <p:cNvPr id="40" name="Text 38"/>
          <p:cNvSpPr/>
          <p:nvPr/>
        </p:nvSpPr>
        <p:spPr>
          <a:xfrm>
            <a:off x="7589520" y="2697480"/>
            <a:ext cx="1531620" cy="411480"/>
          </a:xfrm>
          <a:prstGeom prst="rect">
            <a:avLst/>
          </a:prstGeom>
          <a:noFill/>
          <a:ln/>
        </p:spPr>
        <p:txBody>
          <a:bodyPr wrap="square" rtlCol="0" anchor="ctr"/>
          <a:lstStyle/>
          <a:p>
            <a:pPr marL="0" indent="0" algn="ctr">
              <a:buNone/>
            </a:pPr>
            <a:r>
              <a:rPr lang="en-US" sz="1900" b="1" dirty="0">
                <a:solidFill>
                  <a:srgbClr val="1B3A63"/>
                </a:solidFill>
                <a:latin typeface="Cambria" pitchFamily="34" charset="0"/>
                <a:ea typeface="Cambria" pitchFamily="34" charset="-122"/>
                <a:cs typeface="Cambria" pitchFamily="34" charset="-120"/>
              </a:rPr>
              <a:t>52.3%</a:t>
            </a:r>
            <a:endParaRPr lang="en-US" sz="1900" dirty="0"/>
          </a:p>
        </p:txBody>
      </p:sp>
      <p:sp>
        <p:nvSpPr>
          <p:cNvPr id="41" name="Text 39"/>
          <p:cNvSpPr/>
          <p:nvPr/>
        </p:nvSpPr>
        <p:spPr>
          <a:xfrm>
            <a:off x="7589520" y="3081528"/>
            <a:ext cx="1531620" cy="2743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S1</a:t>
            </a:r>
            <a:endParaRPr lang="en-US" sz="900" dirty="0"/>
          </a:p>
        </p:txBody>
      </p:sp>
      <p:sp>
        <p:nvSpPr>
          <p:cNvPr id="42" name="Text 40"/>
          <p:cNvSpPr/>
          <p:nvPr/>
        </p:nvSpPr>
        <p:spPr>
          <a:xfrm>
            <a:off x="9212580" y="2697480"/>
            <a:ext cx="1531620" cy="411480"/>
          </a:xfrm>
          <a:prstGeom prst="rect">
            <a:avLst/>
          </a:prstGeom>
          <a:noFill/>
          <a:ln/>
        </p:spPr>
        <p:txBody>
          <a:bodyPr wrap="square" rtlCol="0" anchor="ctr"/>
          <a:lstStyle/>
          <a:p>
            <a:pPr marL="0" indent="0" algn="ctr">
              <a:buNone/>
            </a:pPr>
            <a:r>
              <a:rPr lang="en-US" sz="1900" b="1" dirty="0">
                <a:solidFill>
                  <a:srgbClr val="1B3A63"/>
                </a:solidFill>
                <a:latin typeface="Cambria" pitchFamily="34" charset="0"/>
                <a:ea typeface="Cambria" pitchFamily="34" charset="-122"/>
                <a:cs typeface="Cambria" pitchFamily="34" charset="-120"/>
              </a:rPr>
              <a:t>57.4%</a:t>
            </a:r>
            <a:endParaRPr lang="en-US" sz="1900" dirty="0"/>
          </a:p>
        </p:txBody>
      </p:sp>
      <p:sp>
        <p:nvSpPr>
          <p:cNvPr id="43" name="Text 41"/>
          <p:cNvSpPr/>
          <p:nvPr/>
        </p:nvSpPr>
        <p:spPr>
          <a:xfrm>
            <a:off x="9212580" y="3081528"/>
            <a:ext cx="1531620" cy="27432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S2</a:t>
            </a:r>
            <a:endParaRPr lang="en-US" sz="900" dirty="0"/>
          </a:p>
        </p:txBody>
      </p:sp>
      <p:sp>
        <p:nvSpPr>
          <p:cNvPr id="44" name="Shape 42"/>
          <p:cNvSpPr/>
          <p:nvPr/>
        </p:nvSpPr>
        <p:spPr>
          <a:xfrm>
            <a:off x="7635240" y="3566160"/>
            <a:ext cx="3063240" cy="0"/>
          </a:xfrm>
          <a:prstGeom prst="line">
            <a:avLst/>
          </a:prstGeom>
          <a:noFill/>
          <a:ln w="12700">
            <a:solidFill>
              <a:srgbClr val="E2E8F0"/>
            </a:solidFill>
            <a:prstDash val="solid"/>
          </a:ln>
        </p:spPr>
        <p:txBody>
          <a:bodyPr/>
          <a:lstStyle/>
          <a:p>
            <a:endParaRPr lang="fr-FR"/>
          </a:p>
        </p:txBody>
      </p:sp>
      <p:sp>
        <p:nvSpPr>
          <p:cNvPr id="45" name="Text 43"/>
          <p:cNvSpPr/>
          <p:nvPr/>
        </p:nvSpPr>
        <p:spPr>
          <a:xfrm>
            <a:off x="7635240" y="3685032"/>
            <a:ext cx="3063240" cy="731520"/>
          </a:xfrm>
          <a:prstGeom prst="rect">
            <a:avLst/>
          </a:prstGeom>
          <a:noFill/>
          <a:ln/>
        </p:spPr>
        <p:txBody>
          <a:bodyPr wrap="square" rtlCol="0" anchor="ctr"/>
          <a:lstStyle/>
          <a:p>
            <a:pPr marL="0" indent="0">
              <a:lnSpc>
                <a:spcPct val="115000"/>
              </a:lnSpc>
              <a:buNone/>
            </a:pPr>
            <a:r>
              <a:rPr lang="en-US" sz="950" i="1" dirty="0">
                <a:solidFill>
                  <a:srgbClr val="1F2A37"/>
                </a:solidFill>
                <a:latin typeface="Calibri" pitchFamily="34" charset="0"/>
                <a:ea typeface="Calibri" pitchFamily="34" charset="-122"/>
                <a:cs typeface="Calibri" pitchFamily="34" charset="-120"/>
              </a:rPr>
              <a:t>Chimie, Algèbre et Dessin Technique concentrent le plus d'échecs.</a:t>
            </a:r>
            <a:endParaRPr lang="en-US" sz="950" dirty="0"/>
          </a:p>
        </p:txBody>
      </p:sp>
      <p:sp>
        <p:nvSpPr>
          <p:cNvPr id="46" name="Text 44"/>
          <p:cNvSpPr/>
          <p:nvPr/>
        </p:nvSpPr>
        <p:spPr>
          <a:xfrm>
            <a:off x="12344853" y="5724959"/>
            <a:ext cx="36576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3A63"/>
        </a:solidFill>
        <a:effectLst/>
      </p:bgPr>
    </p:bg>
    <p:spTree>
      <p:nvGrpSpPr>
        <p:cNvPr id="1" name=""/>
        <p:cNvGrpSpPr/>
        <p:nvPr/>
      </p:nvGrpSpPr>
      <p:grpSpPr>
        <a:xfrm>
          <a:off x="0" y="0"/>
          <a:ext cx="0" cy="0"/>
          <a:chOff x="0" y="0"/>
          <a:chExt cx="0" cy="0"/>
        </a:xfrm>
      </p:grpSpPr>
      <p:sp>
        <p:nvSpPr>
          <p:cNvPr id="2" name="Text 0"/>
          <p:cNvSpPr/>
          <p:nvPr/>
        </p:nvSpPr>
        <p:spPr>
          <a:xfrm>
            <a:off x="502920" y="274320"/>
            <a:ext cx="8229600" cy="274320"/>
          </a:xfrm>
          <a:prstGeom prst="rect">
            <a:avLst/>
          </a:prstGeom>
          <a:noFill/>
          <a:ln/>
        </p:spPr>
        <p:txBody>
          <a:bodyPr wrap="square" rtlCol="0" anchor="ctr"/>
          <a:lstStyle/>
          <a:p>
            <a:pPr marL="0" indent="0">
              <a:buNone/>
            </a:pPr>
            <a:r>
              <a:rPr lang="en-US" sz="1200" b="1" kern="0" spc="200" dirty="0">
                <a:solidFill>
                  <a:srgbClr val="9FC1E0"/>
                </a:solidFill>
                <a:latin typeface="Calibri" pitchFamily="34" charset="0"/>
                <a:ea typeface="Calibri" pitchFamily="34" charset="-122"/>
                <a:cs typeface="Calibri" pitchFamily="34" charset="-120"/>
              </a:rPr>
              <a:t>INSIGHTS</a:t>
            </a:r>
            <a:endParaRPr lang="en-US" sz="1200" dirty="0"/>
          </a:p>
        </p:txBody>
      </p:sp>
      <p:sp>
        <p:nvSpPr>
          <p:cNvPr id="3" name="Text 1"/>
          <p:cNvSpPr/>
          <p:nvPr/>
        </p:nvSpPr>
        <p:spPr>
          <a:xfrm>
            <a:off x="502920" y="521208"/>
            <a:ext cx="10058400" cy="59436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Synthèse exécutive &amp; recommandations</a:t>
            </a:r>
            <a:endParaRPr lang="en-US" sz="2600" dirty="0"/>
          </a:p>
        </p:txBody>
      </p:sp>
      <p:sp>
        <p:nvSpPr>
          <p:cNvPr id="4" name="Shape 2"/>
          <p:cNvSpPr/>
          <p:nvPr/>
        </p:nvSpPr>
        <p:spPr>
          <a:xfrm>
            <a:off x="502920" y="1417320"/>
            <a:ext cx="10881360" cy="1051560"/>
          </a:xfrm>
          <a:prstGeom prst="roundRect">
            <a:avLst>
              <a:gd name="adj" fmla="val 6087"/>
            </a:avLst>
          </a:prstGeom>
          <a:solidFill>
            <a:srgbClr val="17304F"/>
          </a:solidFill>
          <a:ln/>
        </p:spPr>
        <p:txBody>
          <a:bodyPr/>
          <a:lstStyle/>
          <a:p>
            <a:endParaRPr lang="fr-FR"/>
          </a:p>
        </p:txBody>
      </p:sp>
      <p:sp>
        <p:nvSpPr>
          <p:cNvPr id="5" name="Shape 3"/>
          <p:cNvSpPr/>
          <p:nvPr/>
        </p:nvSpPr>
        <p:spPr>
          <a:xfrm>
            <a:off x="731520" y="1668780"/>
            <a:ext cx="548640" cy="548640"/>
          </a:xfrm>
          <a:prstGeom prst="ellipse">
            <a:avLst/>
          </a:prstGeom>
          <a:solidFill>
            <a:srgbClr val="E8743B"/>
          </a:solidFill>
          <a:ln/>
        </p:spPr>
        <p:txBody>
          <a:bodyPr/>
          <a:lstStyle/>
          <a:p>
            <a:endParaRPr lang="fr-FR"/>
          </a:p>
        </p:txBody>
      </p:sp>
      <p:pic>
        <p:nvPicPr>
          <p:cNvPr id="6" name="Image 0" descr="preencoded.png"/>
          <p:cNvPicPr>
            <a:picLocks noChangeAspect="1"/>
          </p:cNvPicPr>
          <p:nvPr/>
        </p:nvPicPr>
        <p:blipFill>
          <a:blip r:embed="rId3"/>
          <a:stretch>
            <a:fillRect/>
          </a:stretch>
        </p:blipFill>
        <p:spPr>
          <a:xfrm>
            <a:off x="874166" y="1811426"/>
            <a:ext cx="263347" cy="263347"/>
          </a:xfrm>
          <a:prstGeom prst="rect">
            <a:avLst/>
          </a:prstGeom>
        </p:spPr>
      </p:pic>
      <p:sp>
        <p:nvSpPr>
          <p:cNvPr id="7" name="Text 4"/>
          <p:cNvSpPr/>
          <p:nvPr/>
        </p:nvSpPr>
        <p:spPr>
          <a:xfrm>
            <a:off x="1508760" y="1527048"/>
            <a:ext cx="2743200" cy="83210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Axe académique</a:t>
            </a:r>
            <a:endParaRPr lang="en-US" sz="1300" dirty="0"/>
          </a:p>
        </p:txBody>
      </p:sp>
      <p:sp>
        <p:nvSpPr>
          <p:cNvPr id="8" name="Text 5"/>
          <p:cNvSpPr/>
          <p:nvPr/>
        </p:nvSpPr>
        <p:spPr>
          <a:xfrm>
            <a:off x="4343400" y="1527048"/>
            <a:ext cx="6858000" cy="832104"/>
          </a:xfrm>
          <a:prstGeom prst="rect">
            <a:avLst/>
          </a:prstGeom>
          <a:noFill/>
          <a:ln/>
        </p:spPr>
        <p:txBody>
          <a:bodyPr wrap="square" rtlCol="0" anchor="ctr"/>
          <a:lstStyle/>
          <a:p>
            <a:pPr marL="0" indent="0">
              <a:lnSpc>
                <a:spcPct val="115000"/>
              </a:lnSpc>
              <a:buNone/>
            </a:pPr>
            <a:r>
              <a:rPr lang="en-US" sz="1100" dirty="0">
                <a:solidFill>
                  <a:srgbClr val="DCE7F2"/>
                </a:solidFill>
                <a:latin typeface="Calibri" pitchFamily="34" charset="0"/>
                <a:ea typeface="Calibri" pitchFamily="34" charset="-122"/>
                <a:cs typeface="Calibri" pitchFamily="34" charset="-120"/>
              </a:rPr>
              <a:t>Chimie, Algèbre et Dessin Technique en tête des échecs → tutorat ciblé dès le 1er semestre.</a:t>
            </a:r>
            <a:endParaRPr lang="en-US" sz="1100" dirty="0"/>
          </a:p>
        </p:txBody>
      </p:sp>
      <p:sp>
        <p:nvSpPr>
          <p:cNvPr id="9" name="Shape 6"/>
          <p:cNvSpPr/>
          <p:nvPr/>
        </p:nvSpPr>
        <p:spPr>
          <a:xfrm>
            <a:off x="502920" y="2633472"/>
            <a:ext cx="10881360" cy="1051560"/>
          </a:xfrm>
          <a:prstGeom prst="roundRect">
            <a:avLst>
              <a:gd name="adj" fmla="val 6087"/>
            </a:avLst>
          </a:prstGeom>
          <a:solidFill>
            <a:srgbClr val="17304F"/>
          </a:solidFill>
          <a:ln/>
        </p:spPr>
        <p:txBody>
          <a:bodyPr/>
          <a:lstStyle/>
          <a:p>
            <a:endParaRPr lang="fr-FR"/>
          </a:p>
        </p:txBody>
      </p:sp>
      <p:sp>
        <p:nvSpPr>
          <p:cNvPr id="10" name="Shape 7"/>
          <p:cNvSpPr/>
          <p:nvPr/>
        </p:nvSpPr>
        <p:spPr>
          <a:xfrm>
            <a:off x="731520" y="2884932"/>
            <a:ext cx="548640" cy="548640"/>
          </a:xfrm>
          <a:prstGeom prst="ellipse">
            <a:avLst/>
          </a:prstGeom>
          <a:solidFill>
            <a:srgbClr val="E8743B"/>
          </a:solidFill>
          <a:ln/>
        </p:spPr>
        <p:txBody>
          <a:bodyPr/>
          <a:lstStyle/>
          <a:p>
            <a:endParaRPr lang="fr-FR"/>
          </a:p>
        </p:txBody>
      </p:sp>
      <p:pic>
        <p:nvPicPr>
          <p:cNvPr id="11" name="Image 1" descr="preencoded.png"/>
          <p:cNvPicPr>
            <a:picLocks noChangeAspect="1"/>
          </p:cNvPicPr>
          <p:nvPr/>
        </p:nvPicPr>
        <p:blipFill>
          <a:blip r:embed="rId4"/>
          <a:stretch>
            <a:fillRect/>
          </a:stretch>
        </p:blipFill>
        <p:spPr>
          <a:xfrm>
            <a:off x="874166" y="3027578"/>
            <a:ext cx="263347" cy="263347"/>
          </a:xfrm>
          <a:prstGeom prst="rect">
            <a:avLst/>
          </a:prstGeom>
        </p:spPr>
      </p:pic>
      <p:sp>
        <p:nvSpPr>
          <p:cNvPr id="12" name="Text 8"/>
          <p:cNvSpPr/>
          <p:nvPr/>
        </p:nvSpPr>
        <p:spPr>
          <a:xfrm>
            <a:off x="1508760" y="2743200"/>
            <a:ext cx="2743200" cy="83210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Axe enseignants</a:t>
            </a:r>
            <a:endParaRPr lang="en-US" sz="1300" dirty="0"/>
          </a:p>
        </p:txBody>
      </p:sp>
      <p:sp>
        <p:nvSpPr>
          <p:cNvPr id="13" name="Text 9"/>
          <p:cNvSpPr/>
          <p:nvPr/>
        </p:nvSpPr>
        <p:spPr>
          <a:xfrm>
            <a:off x="4343400" y="2743200"/>
            <a:ext cx="6858000" cy="832104"/>
          </a:xfrm>
          <a:prstGeom prst="rect">
            <a:avLst/>
          </a:prstGeom>
          <a:noFill/>
          <a:ln/>
        </p:spPr>
        <p:txBody>
          <a:bodyPr wrap="square" rtlCol="0" anchor="ctr"/>
          <a:lstStyle/>
          <a:p>
            <a:pPr marL="0" indent="0">
              <a:lnSpc>
                <a:spcPct val="115000"/>
              </a:lnSpc>
              <a:buNone/>
            </a:pPr>
            <a:r>
              <a:rPr lang="en-US" sz="1100" dirty="0">
                <a:solidFill>
                  <a:srgbClr val="DCE7F2"/>
                </a:solidFill>
                <a:latin typeface="Calibri" pitchFamily="34" charset="0"/>
                <a:ea typeface="Calibri" pitchFamily="34" charset="-122"/>
                <a:cs typeface="Calibri" pitchFamily="34" charset="-120"/>
              </a:rPr>
              <a:t>Écart 4.6–5.0 vs 1.5–1.6 entre matières → redistribuer les heures, accompagner les langues.</a:t>
            </a:r>
            <a:endParaRPr lang="en-US" sz="1100" dirty="0"/>
          </a:p>
        </p:txBody>
      </p:sp>
      <p:sp>
        <p:nvSpPr>
          <p:cNvPr id="14" name="Shape 10"/>
          <p:cNvSpPr/>
          <p:nvPr/>
        </p:nvSpPr>
        <p:spPr>
          <a:xfrm>
            <a:off x="502920" y="3849624"/>
            <a:ext cx="10881360" cy="1051560"/>
          </a:xfrm>
          <a:prstGeom prst="roundRect">
            <a:avLst>
              <a:gd name="adj" fmla="val 6087"/>
            </a:avLst>
          </a:prstGeom>
          <a:solidFill>
            <a:srgbClr val="17304F"/>
          </a:solidFill>
          <a:ln/>
        </p:spPr>
        <p:txBody>
          <a:bodyPr/>
          <a:lstStyle/>
          <a:p>
            <a:endParaRPr lang="fr-FR"/>
          </a:p>
        </p:txBody>
      </p:sp>
      <p:sp>
        <p:nvSpPr>
          <p:cNvPr id="15" name="Shape 11"/>
          <p:cNvSpPr/>
          <p:nvPr/>
        </p:nvSpPr>
        <p:spPr>
          <a:xfrm>
            <a:off x="731520" y="4101084"/>
            <a:ext cx="548640" cy="548640"/>
          </a:xfrm>
          <a:prstGeom prst="ellipse">
            <a:avLst/>
          </a:prstGeom>
          <a:solidFill>
            <a:srgbClr val="E8743B"/>
          </a:solidFill>
          <a:ln/>
        </p:spPr>
        <p:txBody>
          <a:bodyPr/>
          <a:lstStyle/>
          <a:p>
            <a:endParaRPr lang="fr-FR"/>
          </a:p>
        </p:txBody>
      </p:sp>
      <p:pic>
        <p:nvPicPr>
          <p:cNvPr id="16" name="Image 2" descr="preencoded.png"/>
          <p:cNvPicPr>
            <a:picLocks noChangeAspect="1"/>
          </p:cNvPicPr>
          <p:nvPr/>
        </p:nvPicPr>
        <p:blipFill>
          <a:blip r:embed="rId5"/>
          <a:stretch>
            <a:fillRect/>
          </a:stretch>
        </p:blipFill>
        <p:spPr>
          <a:xfrm>
            <a:off x="874166" y="4243730"/>
            <a:ext cx="263347" cy="263347"/>
          </a:xfrm>
          <a:prstGeom prst="rect">
            <a:avLst/>
          </a:prstGeom>
        </p:spPr>
      </p:pic>
      <p:sp>
        <p:nvSpPr>
          <p:cNvPr id="17" name="Text 12"/>
          <p:cNvSpPr/>
          <p:nvPr/>
        </p:nvSpPr>
        <p:spPr>
          <a:xfrm>
            <a:off x="1508760" y="3959352"/>
            <a:ext cx="2743200" cy="832104"/>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Axe élèves à risque</a:t>
            </a:r>
            <a:endParaRPr lang="en-US" sz="1300" dirty="0"/>
          </a:p>
        </p:txBody>
      </p:sp>
      <p:sp>
        <p:nvSpPr>
          <p:cNvPr id="18" name="Text 13"/>
          <p:cNvSpPr/>
          <p:nvPr/>
        </p:nvSpPr>
        <p:spPr>
          <a:xfrm>
            <a:off x="4343400" y="3959352"/>
            <a:ext cx="6858000" cy="832104"/>
          </a:xfrm>
          <a:prstGeom prst="rect">
            <a:avLst/>
          </a:prstGeom>
          <a:noFill/>
          <a:ln/>
        </p:spPr>
        <p:txBody>
          <a:bodyPr wrap="square" rtlCol="0" anchor="ctr"/>
          <a:lstStyle/>
          <a:p>
            <a:pPr marL="0" indent="0">
              <a:lnSpc>
                <a:spcPct val="115000"/>
              </a:lnSpc>
              <a:buNone/>
            </a:pPr>
            <a:r>
              <a:rPr lang="en-US" sz="1100" dirty="0">
                <a:solidFill>
                  <a:srgbClr val="DCE7F2"/>
                </a:solidFill>
                <a:latin typeface="Calibri" pitchFamily="34" charset="0"/>
                <a:ea typeface="Calibri" pitchFamily="34" charset="-122"/>
                <a:cs typeface="Calibri" pitchFamily="34" charset="-120"/>
              </a:rPr>
              <a:t>Moyenne sous 10/20 au-delà de 20 absences → alerte automatique dès la 5ème absence.</a:t>
            </a:r>
            <a:endParaRPr lang="en-US" sz="1100" dirty="0"/>
          </a:p>
        </p:txBody>
      </p:sp>
      <p:sp>
        <p:nvSpPr>
          <p:cNvPr id="19" name="Text 14"/>
          <p:cNvSpPr/>
          <p:nvPr/>
        </p:nvSpPr>
        <p:spPr>
          <a:xfrm>
            <a:off x="12362960" y="5471462"/>
            <a:ext cx="36576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3A63"/>
        </a:solidFill>
        <a:effectLst/>
      </p:bgPr>
    </p:bg>
    <p:spTree>
      <p:nvGrpSpPr>
        <p:cNvPr id="1" name=""/>
        <p:cNvGrpSpPr/>
        <p:nvPr/>
      </p:nvGrpSpPr>
      <p:grpSpPr>
        <a:xfrm>
          <a:off x="0" y="0"/>
          <a:ext cx="0" cy="0"/>
          <a:chOff x="0" y="0"/>
          <a:chExt cx="0" cy="0"/>
        </a:xfrm>
      </p:grpSpPr>
      <p:sp>
        <p:nvSpPr>
          <p:cNvPr id="2" name="Shape 0"/>
          <p:cNvSpPr/>
          <p:nvPr/>
        </p:nvSpPr>
        <p:spPr>
          <a:xfrm>
            <a:off x="-1371600" y="3200400"/>
            <a:ext cx="3657600" cy="3657600"/>
          </a:xfrm>
          <a:prstGeom prst="ellipse">
            <a:avLst/>
          </a:prstGeom>
          <a:solidFill>
            <a:srgbClr val="3E7CB1">
              <a:alpha val="20000"/>
            </a:srgbClr>
          </a:solidFill>
          <a:ln/>
        </p:spPr>
        <p:txBody>
          <a:bodyPr/>
          <a:lstStyle/>
          <a:p>
            <a:endParaRPr lang="fr-FR"/>
          </a:p>
        </p:txBody>
      </p:sp>
      <p:sp>
        <p:nvSpPr>
          <p:cNvPr id="3" name="Shape 1"/>
          <p:cNvSpPr/>
          <p:nvPr/>
        </p:nvSpPr>
        <p:spPr>
          <a:xfrm>
            <a:off x="9875520" y="-1188720"/>
            <a:ext cx="3108960" cy="3108960"/>
          </a:xfrm>
          <a:prstGeom prst="ellipse">
            <a:avLst/>
          </a:prstGeom>
          <a:solidFill>
            <a:srgbClr val="E8743B">
              <a:alpha val="22000"/>
            </a:srgbClr>
          </a:solidFill>
          <a:ln/>
        </p:spPr>
        <p:txBody>
          <a:bodyPr/>
          <a:lstStyle/>
          <a:p>
            <a:endParaRPr lang="fr-FR"/>
          </a:p>
        </p:txBody>
      </p:sp>
      <p:sp>
        <p:nvSpPr>
          <p:cNvPr id="4" name="Shape 2"/>
          <p:cNvSpPr/>
          <p:nvPr/>
        </p:nvSpPr>
        <p:spPr>
          <a:xfrm>
            <a:off x="548640" y="640080"/>
            <a:ext cx="640080" cy="640080"/>
          </a:xfrm>
          <a:prstGeom prst="ellipse">
            <a:avLst/>
          </a:prstGeom>
          <a:solidFill>
            <a:srgbClr val="E8743B"/>
          </a:solidFill>
          <a:ln/>
        </p:spPr>
        <p:txBody>
          <a:bodyPr/>
          <a:lstStyle/>
          <a:p>
            <a:endParaRPr lang="fr-FR"/>
          </a:p>
        </p:txBody>
      </p:sp>
      <p:pic>
        <p:nvPicPr>
          <p:cNvPr id="5" name="Image 0" descr="preencoded.png"/>
          <p:cNvPicPr>
            <a:picLocks noChangeAspect="1"/>
          </p:cNvPicPr>
          <p:nvPr/>
        </p:nvPicPr>
        <p:blipFill>
          <a:blip r:embed="rId3"/>
          <a:stretch>
            <a:fillRect/>
          </a:stretch>
        </p:blipFill>
        <p:spPr>
          <a:xfrm>
            <a:off x="715061" y="806501"/>
            <a:ext cx="307238" cy="307238"/>
          </a:xfrm>
          <a:prstGeom prst="rect">
            <a:avLst/>
          </a:prstGeom>
        </p:spPr>
      </p:pic>
      <p:sp>
        <p:nvSpPr>
          <p:cNvPr id="6" name="Text 3"/>
          <p:cNvSpPr/>
          <p:nvPr/>
        </p:nvSpPr>
        <p:spPr>
          <a:xfrm>
            <a:off x="502920" y="1828800"/>
            <a:ext cx="10058400" cy="8229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Merci de votre attention</a:t>
            </a:r>
            <a:endParaRPr lang="en-US" sz="3400" dirty="0"/>
          </a:p>
        </p:txBody>
      </p:sp>
      <p:sp>
        <p:nvSpPr>
          <p:cNvPr id="7" name="Text 4"/>
          <p:cNvSpPr/>
          <p:nvPr/>
        </p:nvSpPr>
        <p:spPr>
          <a:xfrm>
            <a:off x="502920" y="2606040"/>
            <a:ext cx="9144000" cy="640080"/>
          </a:xfrm>
          <a:prstGeom prst="rect">
            <a:avLst/>
          </a:prstGeom>
          <a:noFill/>
          <a:ln/>
        </p:spPr>
        <p:txBody>
          <a:bodyPr wrap="square" rtlCol="0" anchor="ctr"/>
          <a:lstStyle/>
          <a:p>
            <a:pPr marL="0" indent="0">
              <a:buNone/>
            </a:pPr>
            <a:r>
              <a:rPr lang="en-US" sz="1400" i="1" dirty="0">
                <a:solidFill>
                  <a:srgbClr val="CFE0F0"/>
                </a:solidFill>
                <a:latin typeface="Calibri" pitchFamily="34" charset="0"/>
                <a:ea typeface="Calibri" pitchFamily="34" charset="-122"/>
                <a:cs typeface="Calibri" pitchFamily="34" charset="-120"/>
              </a:rPr>
              <a:t>De l'exploration des données brutes à un rapport Power BI actionnable : qualité des données, modélisation fiable, et recommandations concrètes pour la direction.</a:t>
            </a:r>
            <a:endParaRPr lang="en-US" sz="1400" dirty="0"/>
          </a:p>
        </p:txBody>
      </p:sp>
      <p:sp>
        <p:nvSpPr>
          <p:cNvPr id="8" name="Shape 5"/>
          <p:cNvSpPr/>
          <p:nvPr/>
        </p:nvSpPr>
        <p:spPr>
          <a:xfrm>
            <a:off x="548640" y="3429000"/>
            <a:ext cx="1280160" cy="0"/>
          </a:xfrm>
          <a:prstGeom prst="line">
            <a:avLst/>
          </a:prstGeom>
          <a:noFill/>
          <a:ln w="38100">
            <a:solidFill>
              <a:srgbClr val="E8743B"/>
            </a:solidFill>
            <a:prstDash val="solid"/>
          </a:ln>
        </p:spPr>
        <p:txBody>
          <a:bodyPr/>
          <a:lstStyle/>
          <a:p>
            <a:endParaRPr lang="fr-FR"/>
          </a:p>
        </p:txBody>
      </p:sp>
      <p:sp>
        <p:nvSpPr>
          <p:cNvPr id="9" name="Text 6"/>
          <p:cNvSpPr/>
          <p:nvPr/>
        </p:nvSpPr>
        <p:spPr>
          <a:xfrm>
            <a:off x="502920" y="3611880"/>
            <a:ext cx="7315200" cy="365760"/>
          </a:xfrm>
          <a:prstGeom prst="rect">
            <a:avLst/>
          </a:prstGeom>
          <a:noFill/>
          <a:ln/>
        </p:spPr>
        <p:txBody>
          <a:bodyPr wrap="square" rtlCol="0" anchor="ctr"/>
          <a:lstStyle/>
          <a:p>
            <a:pPr marL="0" indent="0">
              <a:buNone/>
            </a:pPr>
            <a:r>
              <a:rPr lang="en-US" sz="1300" b="1" dirty="0">
                <a:solidFill>
                  <a:srgbClr val="9FC1E0"/>
                </a:solidFill>
                <a:latin typeface="Calibri" pitchFamily="34" charset="0"/>
                <a:ea typeface="Calibri" pitchFamily="34" charset="-122"/>
                <a:cs typeface="Calibri" pitchFamily="34" charset="-120"/>
              </a:rPr>
              <a:t>Questions &amp; discussion</a:t>
            </a:r>
            <a:endParaRPr lang="en-US" sz="1300" dirty="0"/>
          </a:p>
        </p:txBody>
      </p:sp>
      <p:sp>
        <p:nvSpPr>
          <p:cNvPr id="10" name="Text 7"/>
          <p:cNvSpPr/>
          <p:nvPr/>
        </p:nvSpPr>
        <p:spPr>
          <a:xfrm>
            <a:off x="12290532" y="5362820"/>
            <a:ext cx="365760" cy="22860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997</Words>
  <Application>Microsoft Office PowerPoint</Application>
  <PresentationFormat>Grand écran</PresentationFormat>
  <Paragraphs>106</Paragraphs>
  <Slides>6</Slides>
  <Notes>6</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6</vt:i4>
      </vt:variant>
    </vt:vector>
  </HeadingPairs>
  <TitlesOfParts>
    <vt:vector size="10"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Rapport Décisionnel — Performance Scolaire</dc:title>
  <dc:subject>PptxGenJS Presentation</dc:subject>
  <dc:creator>Ayoub</dc:creator>
  <cp:lastModifiedBy>nordin saidi</cp:lastModifiedBy>
  <cp:revision>2</cp:revision>
  <dcterms:created xsi:type="dcterms:W3CDTF">2026-07-02T09:33:38Z</dcterms:created>
  <dcterms:modified xsi:type="dcterms:W3CDTF">2026-07-02T09:42:06Z</dcterms:modified>
</cp:coreProperties>
</file>